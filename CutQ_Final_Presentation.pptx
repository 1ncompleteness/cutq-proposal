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4A547"/>
          </a:solidFill>
          <a:ln w="12700">
            <a:solidFill>
              <a:srgbClr val="D4A5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CutQ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BARBER MANAGEMENT PLATFORM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600" b="1" dirty="0">
                <a:solidFill>
                  <a:srgbClr val="F4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Reducing wait,</a:t>
            </a:r>
            <a:endParaRPr lang="en-US" sz="5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600" b="1" dirty="0">
                <a:solidFill>
                  <a:srgbClr val="F4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trust,</a:t>
            </a:r>
            <a:endParaRPr lang="en-US" sz="5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600" b="1" dirty="0">
                <a:solidFill>
                  <a:srgbClr val="F4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every chair.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7955280" y="1280160"/>
            <a:ext cx="3657600" cy="4389120"/>
          </a:xfrm>
          <a:prstGeom prst="roundRect">
            <a:avLst>
              <a:gd name="adj" fmla="val 5500"/>
            </a:avLst>
          </a:prstGeom>
          <a:solidFill>
            <a:srgbClr val="1F2330"/>
          </a:solidFill>
          <a:ln w="15240">
            <a:solidFill>
              <a:srgbClr val="3A40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19288" y="1344168"/>
            <a:ext cx="3529584" cy="4261104"/>
          </a:xfrm>
          <a:prstGeom prst="roundRect">
            <a:avLst>
              <a:gd name="adj" fmla="val 4663"/>
            </a:avLst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85048" y="1801368"/>
            <a:ext cx="2470709" cy="1704442"/>
          </a:xfrm>
          <a:prstGeom prst="ellipse">
            <a:avLst/>
          </a:prstGeom>
          <a:solidFill>
            <a:srgbClr val="19A7CE">
              <a:alpha val="40000"/>
            </a:srgbClr>
          </a:solidFill>
          <a:ln w="12700">
            <a:solidFill>
              <a:srgbClr val="19A7C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36408" y="3048610"/>
            <a:ext cx="2823667" cy="2130552"/>
          </a:xfrm>
          <a:prstGeom prst="ellipse">
            <a:avLst/>
          </a:prstGeom>
          <a:solidFill>
            <a:srgbClr val="1A8FBF">
              <a:alpha val="50000"/>
            </a:srgbClr>
          </a:solidFill>
          <a:ln w="12700">
            <a:solidFill>
              <a:srgbClr val="1A8F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0" y="1389888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19288" y="1847088"/>
            <a:ext cx="35295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8019288" y="1709928"/>
            <a:ext cx="35295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F1EB"/>
                </a:solidFill>
              </a:rPr>
              <a:t>Apr 1   SFO   9:41 AM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229600" y="4297680"/>
            <a:ext cx="3108960" cy="960120"/>
          </a:xfrm>
          <a:prstGeom prst="roundRect">
            <a:avLst>
              <a:gd name="adj" fmla="val 13333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66760" y="4416552"/>
            <a:ext cx="329184" cy="329184"/>
          </a:xfrm>
          <a:prstGeom prst="ellipse">
            <a:avLst/>
          </a:prstGeom>
          <a:solidFill>
            <a:srgbClr val="D4A547"/>
          </a:solidFill>
          <a:ln w="12700">
            <a:solidFill>
              <a:srgbClr val="D4A5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0" y="441655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Terry Davis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921240" y="444398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A0E1A"/>
                </a:solidFill>
              </a:rPr>
              <a:t>CSUN Barber Shop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366760" y="480060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0E1A"/>
                </a:solidFill>
              </a:rPr>
              <a:t>Time Remaining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698480" y="4800600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A0E1A"/>
                </a:solidFill>
              </a:rPr>
              <a:t>23 min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366760" y="5010912"/>
            <a:ext cx="2834640" cy="73152"/>
          </a:xfrm>
          <a:prstGeom prst="roundRect">
            <a:avLst>
              <a:gd name="adj" fmla="val 50000"/>
            </a:avLst>
          </a:prstGeom>
          <a:solidFill>
            <a:srgbClr val="0A0E1A">
              <a:alpha val="3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66760" y="5010912"/>
            <a:ext cx="1559052" cy="73152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5897880"/>
            <a:ext cx="6400800" cy="18288"/>
          </a:xfrm>
          <a:prstGeom prst="rect">
            <a:avLst/>
          </a:prstGeom>
          <a:solidFill>
            <a:srgbClr val="D4A547"/>
          </a:solidFill>
          <a:ln w="12700">
            <a:solidFill>
              <a:srgbClr val="D4A5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98932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spc="300" kern="0" dirty="0">
                <a:solidFill>
                  <a:srgbClr val="D4A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FINAL PRESENTATION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8  ·  Jerry Ttuyan &amp; Behrouz Barati Bagherabad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Armineh Karamian  ·  Spring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292608"/>
          </a:xfrm>
          <a:prstGeom prst="rect">
            <a:avLst/>
          </a:prstGeom>
          <a:solidFill>
            <a:srgbClr val="D4A547"/>
          </a:solidFill>
          <a:ln w="12700">
            <a:solidFill>
              <a:srgbClr val="D4A5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we'll go in the next 15 minutes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88720" y="2331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E1A"/>
                </a:solidFill>
              </a:rPr>
              <a:t>The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54680" y="23317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Pain points on both sides of the chair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0" y="23317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949440" y="2331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E1A"/>
                </a:solidFill>
              </a:rPr>
              <a:t>Users &amp; goals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15400" y="23317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Personas, scenarios, jobs to be done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99923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188720" y="29992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E1A"/>
                </a:solidFill>
              </a:rPr>
              <a:t>Requirements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54680" y="29992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What CutQ must do — and what it must feel like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0" y="299923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949440" y="29992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E1A"/>
                </a:solidFill>
              </a:rPr>
              <a:t>Emotional design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915400" y="29992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Reducing anxiety and cognitive load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66674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188720" y="366674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E1A"/>
                </a:solidFill>
              </a:rPr>
              <a:t>Barriers &amp; solutions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54680" y="366674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Accessibility, usability, cognition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366674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949440" y="366674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E1A"/>
                </a:solidFill>
              </a:rPr>
              <a:t>The product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915400" y="366674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Wireframes, hi-fi UI, signature feature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33425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188720" y="433425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E1A"/>
                </a:solidFill>
              </a:rPr>
              <a:t>Usability testing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154680" y="433425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What we learned and changed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0" y="433425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949440" y="433425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E1A"/>
                </a:solidFill>
              </a:rPr>
              <a:t>Conclusion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915400" y="433425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Outcomes vs. success criteria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CutQ  ·  HCI Final  ·  Group 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9441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292608"/>
          </a:xfrm>
          <a:prstGeom prst="rect">
            <a:avLst/>
          </a:prstGeom>
          <a:solidFill>
            <a:srgbClr val="D4A547"/>
          </a:solidFill>
          <a:ln w="12700">
            <a:solidFill>
              <a:srgbClr val="D4A5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CutQ?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Jackrabbit-inspired program management platform — applied to barber shops.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694944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468880"/>
            <a:ext cx="91440" cy="3383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46888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4A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868680" y="269748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i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CutQ centralizes scheduling, customer management, billing, and live time-awareness for small service-based programs — starting with barber shops, where wasted slots and missed appointments are everyday losses.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46634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reduce errors, build trust between barbers and clients, and lower the cognitive load of running and using a busy shop.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80960" y="2468880"/>
            <a:ext cx="4023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0" y="2468880"/>
            <a:ext cx="73152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09560" y="2578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E1A"/>
                </a:solidFill>
              </a:rPr>
              <a:t>Centralize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09560" y="2926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One source of truth for every chair.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680960" y="3630168"/>
            <a:ext cx="4023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3630168"/>
            <a:ext cx="73152" cy="1005840"/>
          </a:xfrm>
          <a:prstGeom prst="rect">
            <a:avLst/>
          </a:prstGeom>
          <a:solidFill>
            <a:srgbClr val="D4A547"/>
          </a:solidFill>
          <a:ln w="12700">
            <a:solidFill>
              <a:srgbClr val="D4A5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09560" y="37398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E1A"/>
                </a:solidFill>
              </a:rPr>
              <a:t>Communicate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909560" y="408736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Real-time status visible to all parties.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680960" y="4791456"/>
            <a:ext cx="4023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4791456"/>
            <a:ext cx="73152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09560" y="49011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E1A"/>
                </a:solidFill>
              </a:rPr>
              <a:t>Recover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909560" y="524865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Alternative options when plans break.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CutQ  ·  HCI Final  ·  Group 8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9441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292608"/>
          </a:xfrm>
          <a:prstGeom prst="rect">
            <a:avLst/>
          </a:prstGeom>
          <a:solidFill>
            <a:srgbClr val="D4A547"/>
          </a:solidFill>
          <a:ln w="12700">
            <a:solidFill>
              <a:srgbClr val="D4A5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sides of the chair, both losing.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36576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377440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~30%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514600" y="237744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A0E1A"/>
                </a:solidFill>
              </a:rPr>
              <a:t>of small-shop time slots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A0E1A"/>
                </a:solidFill>
              </a:rPr>
              <a:t>left unfilled per week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2331720"/>
            <a:ext cx="36576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2377440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min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446520" y="237744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A0E1A"/>
                </a:solidFill>
              </a:rPr>
              <a:t>average late arrival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A0E1A"/>
                </a:solidFill>
              </a:rPr>
              <a:t>on walk-up bookings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321040" y="2331720"/>
            <a:ext cx="36576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8200" y="2377440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in 5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0378440" y="237744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A0E1A"/>
                </a:solidFill>
              </a:rPr>
              <a:t>clients leave when their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A0E1A"/>
                </a:solidFill>
              </a:rPr>
              <a:t>barber is double-booked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977640"/>
            <a:ext cx="54864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416052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4160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E1A"/>
                </a:solidFill>
              </a:rPr>
              <a:t>From the barber's chair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7548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A0E1A"/>
                </a:solidFill>
              </a:rPr>
              <a:t>Clients arriving late chains delays through the whole day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A0E1A"/>
                </a:solidFill>
              </a:rPr>
              <a:t>No-shows leave wasted, unrecoverable time slots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A0E1A"/>
                </a:solidFill>
              </a:rPr>
              <a:t>Hard to keep mental track of "who's next" mid-service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3977640"/>
            <a:ext cx="54864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4160520"/>
            <a:ext cx="457200" cy="457200"/>
          </a:xfrm>
          <a:prstGeom prst="ellipse">
            <a:avLst/>
          </a:prstGeom>
          <a:solidFill>
            <a:srgbClr val="D4A547"/>
          </a:solidFill>
          <a:ln w="12700">
            <a:solidFill>
              <a:srgbClr val="D4A5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0" y="4160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E1A"/>
                </a:solidFill>
              </a:rPr>
              <a:t>From the client's pocket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75120" y="47548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A0E1A"/>
                </a:solidFill>
              </a:rPr>
              <a:t>Preferred barber fully booked — and no easy alternative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A0E1A"/>
                </a:solidFill>
              </a:rPr>
              <a:t>Last-minute booking uncertainty ("is anyone free now?")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A0E1A"/>
                </a:solidFill>
              </a:rPr>
              <a:t>No clarity on where to go when their barber is unavailable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CutQ  ·  HCI Final  ·  Group 8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9441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292608"/>
          </a:xfrm>
          <a:prstGeom prst="rect">
            <a:avLst/>
          </a:prstGeom>
          <a:solidFill>
            <a:srgbClr val="D4A547"/>
          </a:solidFill>
          <a:ln w="12700">
            <a:solidFill>
              <a:srgbClr val="D4A5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personas, three emotional states.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36576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286000"/>
            <a:ext cx="3657600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2651760"/>
            <a:ext cx="914400" cy="914400"/>
          </a:xfrm>
          <a:prstGeom prst="ellipse">
            <a:avLst/>
          </a:prstGeom>
          <a:solidFill>
            <a:srgbClr val="2563EB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2651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Marcus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9776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Master Barber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187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2563EB"/>
                </a:solidFill>
              </a:rPr>
              <a:t>PRIMARY USER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4480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"Don't make me look at the wall clock between cuts."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51663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563EB"/>
                </a:solidFill>
              </a:rPr>
              <a:t>Top anxieties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53949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0A0E1A"/>
                </a:solidFill>
              </a:rPr>
              <a:t>Running late on chained appointments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0A0E1A"/>
                </a:solidFill>
              </a:rPr>
              <a:t>Losing tip-rich slots to no-shows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61688" y="2286000"/>
            <a:ext cx="36576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61688" y="2286000"/>
            <a:ext cx="3657600" cy="146304"/>
          </a:xfrm>
          <a:prstGeom prst="rect">
            <a:avLst/>
          </a:prstGeom>
          <a:solidFill>
            <a:srgbClr val="D4A547"/>
          </a:solidFill>
          <a:ln w="12700">
            <a:solidFill>
              <a:srgbClr val="D4A5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33288" y="2651760"/>
            <a:ext cx="914400" cy="914400"/>
          </a:xfrm>
          <a:prstGeom prst="ellipse">
            <a:avLst/>
          </a:prstGeom>
          <a:solidFill>
            <a:srgbClr val="D4A547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33288" y="2651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361688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Jordan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361688" y="39776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Customer / Client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61688" y="4187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D4A547"/>
                </a:solidFill>
              </a:rPr>
              <a:t>PRIMARY USER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36008" y="4480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"Tell me exactly when to leave the house."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36008" y="51663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547"/>
                </a:solidFill>
              </a:rPr>
              <a:t>Top anxieties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36008" y="53949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0A0E1A"/>
                </a:solidFill>
              </a:rPr>
              <a:t>Showing up late and losing the slot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0A0E1A"/>
                </a:solidFill>
              </a:rPr>
              <a:t>No backup when preferred barber is full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66176" y="2286000"/>
            <a:ext cx="36576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66176" y="2286000"/>
            <a:ext cx="3657600" cy="1463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37776" y="2651760"/>
            <a:ext cx="914400" cy="914400"/>
          </a:xfrm>
          <a:prstGeom prst="ellipse">
            <a:avLst/>
          </a:prstGeom>
          <a:solidFill>
            <a:srgbClr val="10B98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37776" y="2651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8266176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Andrea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266176" y="39776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Shop Owner / Admin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66176" y="4187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10B981"/>
                </a:solidFill>
              </a:rPr>
              <a:t>PROGRAM ADMIN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540496" y="4480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"Show me earnings and gaps without a spreadsheet."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540496" y="51663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</a:rPr>
              <a:t>Top anxieties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540496" y="53949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0A0E1A"/>
                </a:solidFill>
              </a:rPr>
              <a:t>Empty chairs, missed billing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0A0E1A"/>
                </a:solidFill>
              </a:rPr>
              <a:t>Trust between barbers and clients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CutQ  ·  HCI Final  ·  Group 8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9441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292608"/>
          </a:xfrm>
          <a:prstGeom prst="rect">
            <a:avLst/>
          </a:prstGeom>
          <a:solidFill>
            <a:srgbClr val="D4A547"/>
          </a:solidFill>
          <a:ln w="12700">
            <a:solidFill>
              <a:srgbClr val="D4A5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system must do.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capabilities mapped from the assignment brief.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5486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3DD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2505456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505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24414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E1A"/>
                </a:solidFill>
              </a:rPr>
              <a:t>Authentication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7249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Sign-up, sign-in, password recovery, secure sessions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377440"/>
            <a:ext cx="5486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3DD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73952" y="2505456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2505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86600" y="24414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E1A"/>
                </a:solidFill>
              </a:rPr>
              <a:t>Role-based Access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86600" y="27249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Customer, Barber, Shop Admin scopes with least-privilege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5486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3DD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3282696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32186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E1A"/>
                </a:solidFill>
              </a:rPr>
              <a:t>Customer Management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35021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Profiles, contact info, preferences, history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09360" y="3154680"/>
            <a:ext cx="5486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3DDD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73952" y="3282696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86600" y="32186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E1A"/>
                </a:solidFill>
              </a:rPr>
              <a:t>Programs &amp; Classes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86600" y="35021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Service offerings: cuts, beard trims, packages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931920"/>
            <a:ext cx="5486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3DDD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" y="4059936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34440" y="39959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E1A"/>
                </a:solidFill>
              </a:rPr>
              <a:t>Roster Management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34440" y="42793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Barber assignments, capacity, working hours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09360" y="3931920"/>
            <a:ext cx="5486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3DDD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73952" y="4059936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73952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086600" y="39959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E1A"/>
                </a:solidFill>
              </a:rPr>
              <a:t>Billing &amp; Invoices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086600" y="42793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Itemized charges, recurring packages, refunds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709160"/>
            <a:ext cx="5486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3DDD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1792" y="4837176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234440" y="47731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E1A"/>
                </a:solidFill>
              </a:rPr>
              <a:t>Payments &amp; Receipts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234440" y="50566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Tokenized payments — never raw card data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09360" y="4709160"/>
            <a:ext cx="5486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3DDD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73952" y="4837176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73952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086600" y="47731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E1A"/>
                </a:solidFill>
              </a:rPr>
              <a:t>Reporting Dashboards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086600" y="50566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Earnings, utilization, no-show rate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" y="5486400"/>
            <a:ext cx="5486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3DDD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1792" y="5614416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1792" y="5614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234440" y="55504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E1A"/>
                </a:solidFill>
              </a:rPr>
              <a:t>Notifications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234440" y="58338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Reminders, confirmations, Live Activity countdown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09360" y="5486400"/>
            <a:ext cx="5486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3DDD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73952" y="5614416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73952" y="5614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7086600" y="55504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E1A"/>
                </a:solidFill>
              </a:rPr>
              <a:t>Activity Log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7086600" y="58338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Audit trail for bookings, edits, refunds, role changes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CutQ  ·  HCI Final  ·  Group 8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09441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292608"/>
          </a:xfrm>
          <a:prstGeom prst="rect">
            <a:avLst/>
          </a:prstGeom>
          <a:solidFill>
            <a:srgbClr val="D4A547"/>
          </a:solidFill>
          <a:ln w="12700">
            <a:solidFill>
              <a:srgbClr val="D4A5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system must behave.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36576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331720"/>
            <a:ext cx="91440" cy="3931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560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Accessibility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9718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563EB"/>
                </a:solidFill>
              </a:rPr>
              <a:t>WCAG 2.1 AA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0A0E1A"/>
                </a:solidFill>
              </a:rPr>
              <a:t>4.5:1 contrast on all body text (verified per surface)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0A0E1A"/>
                </a:solidFill>
              </a:rPr>
              <a:t>44×44pt minimum tap targets across all controls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0A0E1A"/>
                </a:solidFill>
              </a:rPr>
              <a:t>VoiceOver/TalkBack labels on every interactive element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0A0E1A"/>
                </a:solidFill>
              </a:rPr>
              <a:t>Honors Dynamic Type and OS-level reduce-motion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61688" y="2331720"/>
            <a:ext cx="36576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61688" y="2331720"/>
            <a:ext cx="91440" cy="3931920"/>
          </a:xfrm>
          <a:prstGeom prst="rect">
            <a:avLst/>
          </a:prstGeom>
          <a:solidFill>
            <a:srgbClr val="D4A547"/>
          </a:solidFill>
          <a:ln w="12700">
            <a:solidFill>
              <a:srgbClr val="D4A5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2560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36008" y="29718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547"/>
                </a:solidFill>
              </a:rPr>
              <a:t>SCALES CONCEPTUALLY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36008" y="338328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0A0E1A"/>
                </a:solidFill>
              </a:rPr>
              <a:t>Booking screens render in &lt; 1s on mid-tier devices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0A0E1A"/>
                </a:solidFill>
              </a:rPr>
              <a:t>Server pagination on rosters and history (no all-at-once loads)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0A0E1A"/>
                </a:solidFill>
              </a:rPr>
              <a:t>Optimistic UI for booking confirmation; reconcile on error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0A0E1A"/>
                </a:solidFill>
              </a:rPr>
              <a:t>Live Activity updates batched to preserve battery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66176" y="2331720"/>
            <a:ext cx="36576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66176" y="2331720"/>
            <a:ext cx="91440" cy="3931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0496" y="2560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&amp; Privacy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40496" y="29718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</a:rPr>
              <a:t>NO RAW PAYMENT STORAGE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40496" y="338328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0A0E1A"/>
                </a:solidFill>
              </a:rPr>
              <a:t>Stripe-style tokenization — card data never hits our DB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0A0E1A"/>
                </a:solidFill>
              </a:rPr>
              <a:t>Role-scoped APIs, server-enforced authorization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0A0E1A"/>
                </a:solidFill>
              </a:rPr>
              <a:t>PII minimized; logs scrubbed of identifying detail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0A0E1A"/>
                </a:solidFill>
              </a:rPr>
              <a:t>TLS 1.2+, hashed credentials, rate-limited auth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CutQ  ·  HCI Final  ·  Group 8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9441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292608"/>
          </a:xfrm>
          <a:prstGeom prst="rect">
            <a:avLst/>
          </a:prstGeom>
          <a:solidFill>
            <a:srgbClr val="D4A547"/>
          </a:solidFill>
          <a:ln w="12700">
            <a:solidFill>
              <a:srgbClr val="D4A5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&amp; PHYSIOLOGICAL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Designing for how it feels, not just what it does.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563EB"/>
                </a:solidFill>
              </a:rPr>
              <a:t>EMOTIONAL / PHYSICAL RISK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0" y="2331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563EB"/>
                </a:solidFill>
              </a:rPr>
              <a:t>HOW CUTQ RESPONDS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563EB"/>
                </a:solidFill>
              </a:rPr>
              <a:t>WHY IT WORKS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633472"/>
            <a:ext cx="11247120" cy="18288"/>
          </a:xfrm>
          <a:prstGeom prst="rect">
            <a:avLst/>
          </a:prstGeom>
          <a:solidFill>
            <a:srgbClr val="E3DDD2"/>
          </a:solidFill>
          <a:ln w="12700">
            <a:solidFill>
              <a:srgbClr val="E3DD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0"/>
            <a:ext cx="11247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7889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A0E1A"/>
                </a:solidFill>
              </a:rPr>
              <a:t>Anxiety: "Will my slot disappear?"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09160" y="27889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A0E1A"/>
                </a:solidFill>
              </a:rPr>
              <a:t>Live countdown + booking confirmation receipt + Live Activity widget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23960" y="27889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A0E1A"/>
                </a:solidFill>
              </a:rPr>
              <a:t>Replaces uncertainty with a visible, persistent state.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4360" y="36576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A0E1A"/>
                </a:solidFill>
              </a:rPr>
              <a:t>Trust: "Did the booking really go through?"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09160" y="36576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A0E1A"/>
                </a:solidFill>
              </a:rPr>
              <a:t>Two-step confirmation, large success state, calendar-style details card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823960" y="36576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A0E1A"/>
                </a:solidFill>
              </a:rPr>
              <a:t>Closes feedback loops the user can see and re-check.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480560"/>
            <a:ext cx="11247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5262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A0E1A"/>
                </a:solidFill>
              </a:rPr>
              <a:t>Cognitive load: "Too many choices, too many steps"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09160" y="45262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A0E1A"/>
                </a:solidFill>
              </a:rPr>
              <a:t>Progressive disclosure — pick barber → pick time → confirm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823960" y="45262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A0E1A"/>
                </a:solidFill>
              </a:rPr>
              <a:t>One decision per screen; never more than 7 visible options.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94360" y="53949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A0E1A"/>
                </a:solidFill>
              </a:rPr>
              <a:t>Physical comfort: "I can't read this in the chair"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09160" y="53949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A0E1A"/>
                </a:solidFill>
              </a:rPr>
              <a:t>Dark theme by default, 16pt+ body, 44pt tap targets, no thin strokes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823960" y="53949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A0E1A"/>
                </a:solidFill>
              </a:rPr>
              <a:t>Readable at arm's length, in low salon light, on greasy fingers.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CutQ  ·  HCI Final  ·  Group 8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9441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292608"/>
          </a:xfrm>
          <a:prstGeom prst="rect">
            <a:avLst/>
          </a:prstGeom>
          <a:solidFill>
            <a:srgbClr val="D4A547"/>
          </a:solidFill>
          <a:ln w="12700">
            <a:solidFill>
              <a:srgbClr val="D4A5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BARRIERS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Removing accessibility, usability, and cognitive walls.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36576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331720"/>
            <a:ext cx="365760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317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Accessibility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</a:rPr>
              <a:t>Barriers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0A0E1A"/>
                </a:solidFill>
              </a:rPr>
              <a:t>Low-vision users in dim shops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0A0E1A"/>
                </a:solidFill>
              </a:rPr>
              <a:t>Motor-impaired reach for small targets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0A0E1A"/>
                </a:solidFill>
              </a:rPr>
              <a:t>Screen reader users miss icon-only labels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46177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563EB"/>
                </a:solidFill>
              </a:rPr>
              <a:t>Solutions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8463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0A0E1A"/>
                </a:solidFill>
              </a:rPr>
              <a:t>Dark mode + 4.5:1 minimum contrast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0A0E1A"/>
                </a:solidFill>
              </a:rPr>
              <a:t>44×44pt taps; thumb-reach bottom nav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0A0E1A"/>
                </a:solidFill>
              </a:rPr>
              <a:t>All icons ship with explicit accessible labels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61688" y="2331720"/>
            <a:ext cx="36576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61688" y="2331720"/>
            <a:ext cx="3657600" cy="548640"/>
          </a:xfrm>
          <a:prstGeom prst="rect">
            <a:avLst/>
          </a:prstGeom>
          <a:solidFill>
            <a:srgbClr val="D4A547"/>
          </a:solidFill>
          <a:ln w="12700">
            <a:solidFill>
              <a:srgbClr val="D4A5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36008" y="23317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Usability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36008" y="30632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</a:rPr>
              <a:t>Barriers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36008" y="32918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0A0E1A"/>
                </a:solidFill>
              </a:rPr>
              <a:t>Bookings made in error / wrong time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0A0E1A"/>
                </a:solidFill>
              </a:rPr>
              <a:t>Unclear what state an action is in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0A0E1A"/>
                </a:solidFill>
              </a:rPr>
              <a:t>Cancel-by-accident permanently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36008" y="46177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547"/>
                </a:solidFill>
              </a:rPr>
              <a:t>Solutions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36008" y="48463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0A0E1A"/>
                </a:solidFill>
              </a:rPr>
              <a:t>Confirmation screen before commit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0A0E1A"/>
                </a:solidFill>
              </a:rPr>
              <a:t>Persistent status pills ("In Progress")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0A0E1A"/>
                </a:solidFill>
              </a:rPr>
              <a:t>Undo within 5s; soft-delete with audit log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66176" y="2331720"/>
            <a:ext cx="36576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66176" y="2331720"/>
            <a:ext cx="365760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0496" y="23317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Cognitive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540496" y="30632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</a:rPr>
              <a:t>Barriers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40496" y="32918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0A0E1A"/>
                </a:solidFill>
              </a:rPr>
              <a:t>Too many choices on one screen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0A0E1A"/>
                </a:solidFill>
              </a:rPr>
              <a:t>Unfamiliar barbers feel risky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0A0E1A"/>
                </a:solidFill>
              </a:rPr>
              <a:t>Math: "how long until I should leave?"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540496" y="46177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</a:rPr>
              <a:t>Solutions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40496" y="48463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0A0E1A"/>
                </a:solidFill>
              </a:rPr>
              <a:t>Progressive disclosure — one decision/screen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0A0E1A"/>
                </a:solidFill>
              </a:rPr>
              <a:t>Ratings + reviews + tier surfaced upfront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0A0E1A"/>
                </a:solidFill>
              </a:rPr>
              <a:t>Live countdown removes the math entirely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CutQ  ·  HCI Final  ·  Group 8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9441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292608"/>
          </a:xfrm>
          <a:prstGeom prst="rect">
            <a:avLst/>
          </a:prstGeom>
          <a:solidFill>
            <a:srgbClr val="D4A547"/>
          </a:solidFill>
          <a:ln w="12700">
            <a:solidFill>
              <a:srgbClr val="D4A5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PROCESS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Fourteen weeks, six diamonds.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Research, design, test, repeat.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53440" y="2697480"/>
            <a:ext cx="777240" cy="7772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3440" y="2697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630680" y="3081528"/>
            <a:ext cx="1158240" cy="0"/>
          </a:xfrm>
          <a:prstGeom prst="line">
            <a:avLst/>
          </a:prstGeom>
          <a:noFill/>
          <a:ln w="19050">
            <a:solidFill>
              <a:srgbClr val="E3DDD2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57200" y="3611880"/>
            <a:ext cx="1569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D4A547"/>
                </a:solidFill>
              </a:rPr>
              <a:t>WKS 1–3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3794760"/>
            <a:ext cx="1569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</a:rPr>
              <a:t>Research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1569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Interviews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Field visits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88920" y="2697480"/>
            <a:ext cx="777240" cy="777240"/>
          </a:xfrm>
          <a:prstGeom prst="ellipse">
            <a:avLst/>
          </a:prstGeom>
          <a:solidFill>
            <a:srgbClr val="D4A547"/>
          </a:solidFill>
          <a:ln w="12700">
            <a:solidFill>
              <a:srgbClr val="D4A5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8920" y="2697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566160" y="3081528"/>
            <a:ext cx="1158240" cy="0"/>
          </a:xfrm>
          <a:prstGeom prst="line">
            <a:avLst/>
          </a:prstGeom>
          <a:noFill/>
          <a:ln w="19050">
            <a:solidFill>
              <a:srgbClr val="E3DDD2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2392680" y="3611880"/>
            <a:ext cx="1569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D4A547"/>
                </a:solidFill>
              </a:rPr>
              <a:t>WKS 4–5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392680" y="3794760"/>
            <a:ext cx="1569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</a:rPr>
              <a:t>Define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392680" y="4114800"/>
            <a:ext cx="1569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Personas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Journey maps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24400" y="2697480"/>
            <a:ext cx="777240" cy="7772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24400" y="2697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5501640" y="3081528"/>
            <a:ext cx="1158240" cy="0"/>
          </a:xfrm>
          <a:prstGeom prst="line">
            <a:avLst/>
          </a:prstGeom>
          <a:noFill/>
          <a:ln w="19050">
            <a:solidFill>
              <a:srgbClr val="E3DDD2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328160" y="3611880"/>
            <a:ext cx="1569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D4A547"/>
                </a:solidFill>
              </a:rPr>
              <a:t>WKS 6–7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328160" y="3794760"/>
            <a:ext cx="1569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</a:rPr>
              <a:t>Sketch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328160" y="4114800"/>
            <a:ext cx="1569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Storyboards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Paper mockups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59880" y="2697480"/>
            <a:ext cx="777240" cy="7772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59880" y="2697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7437120" y="3081528"/>
            <a:ext cx="1158240" cy="0"/>
          </a:xfrm>
          <a:prstGeom prst="line">
            <a:avLst/>
          </a:prstGeom>
          <a:noFill/>
          <a:ln w="19050">
            <a:solidFill>
              <a:srgbClr val="E3DDD2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6263640" y="3611880"/>
            <a:ext cx="1569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D4A547"/>
                </a:solidFill>
              </a:rPr>
              <a:t>WKS 8–9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63640" y="3794760"/>
            <a:ext cx="1569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</a:rPr>
              <a:t>Wireframe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63640" y="4114800"/>
            <a:ext cx="1569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Lo-fi flows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T-prototype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595360" y="2697480"/>
            <a:ext cx="777240" cy="777240"/>
          </a:xfrm>
          <a:prstGeom prst="ellipse">
            <a:avLst/>
          </a:prstGeom>
          <a:solidFill>
            <a:srgbClr val="D4A547"/>
          </a:solidFill>
          <a:ln w="12700">
            <a:solidFill>
              <a:srgbClr val="D4A5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95360" y="2697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32" name="Shape 30"/>
          <p:cNvSpPr/>
          <p:nvPr/>
        </p:nvSpPr>
        <p:spPr>
          <a:xfrm>
            <a:off x="9372600" y="3081528"/>
            <a:ext cx="1158240" cy="0"/>
          </a:xfrm>
          <a:prstGeom prst="line">
            <a:avLst/>
          </a:prstGeom>
          <a:noFill/>
          <a:ln w="19050">
            <a:solidFill>
              <a:srgbClr val="E3DDD2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8199120" y="3611880"/>
            <a:ext cx="1569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D4A547"/>
                </a:solidFill>
              </a:rPr>
              <a:t>WKS 10–11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199120" y="3794760"/>
            <a:ext cx="1569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</a:rPr>
              <a:t>Hi-fi UI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199120" y="4114800"/>
            <a:ext cx="1569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Figma screens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Design system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530840" y="2697480"/>
            <a:ext cx="777240" cy="7772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530840" y="2697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10134600" y="3611880"/>
            <a:ext cx="1569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D4A547"/>
                </a:solidFill>
              </a:rPr>
              <a:t>WKS 12–14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134600" y="3794760"/>
            <a:ext cx="1569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</a:rPr>
              <a:t>Test &amp; iterate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0134600" y="4114800"/>
            <a:ext cx="1569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Usability tests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Final polish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5120640"/>
            <a:ext cx="11247120" cy="9144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5212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547"/>
                </a:solidFill>
              </a:rPr>
              <a:t>METHODS WE LEANED 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0080" y="54864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B"/>
                </a:solidFill>
              </a:rPr>
              <a:t>Semi-structured interviews  ·  Contextual inquiry in 3 shops  ·  Affinity diagramming  ·  Task analysis  ·  Heuristic eval  ·  Moderated usability tests (n=6)  ·  System Usability Scale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CutQ  ·  HCI Final  ·  Group 8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09441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292608"/>
          </a:xfrm>
          <a:prstGeom prst="rect">
            <a:avLst/>
          </a:prstGeom>
          <a:solidFill>
            <a:srgbClr val="D4A547"/>
          </a:solidFill>
          <a:ln w="12700">
            <a:solidFill>
              <a:srgbClr val="D4A5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D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JOURNEY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"I need a cut" to "I'm in the chair."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0AD"/>
                </a:solidFill>
              </a:rPr>
              <a:t>Five screens, one decision per screen.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89508" y="2194560"/>
            <a:ext cx="1783080" cy="3851453"/>
          </a:xfrm>
          <a:prstGeom prst="roundRect">
            <a:avLst>
              <a:gd name="adj" fmla="val 8800"/>
            </a:avLst>
          </a:prstGeom>
          <a:solidFill>
            <a:srgbClr val="1F2330"/>
          </a:solidFill>
          <a:ln w="15240">
            <a:solidFill>
              <a:srgbClr val="3A40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9434" y="2244486"/>
            <a:ext cx="1683228" cy="3751600"/>
          </a:xfrm>
          <a:prstGeom prst="roundRect">
            <a:avLst>
              <a:gd name="adj" fmla="val 7627"/>
            </a:avLst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60093" y="2280148"/>
            <a:ext cx="641909" cy="12838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6419" y="2472720"/>
            <a:ext cx="855878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4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CutQ</a:t>
            </a:r>
            <a:endParaRPr lang="en-US" sz="1404" dirty="0"/>
          </a:p>
        </p:txBody>
      </p:sp>
      <p:sp>
        <p:nvSpPr>
          <p:cNvPr id="10" name="Shape 8"/>
          <p:cNvSpPr/>
          <p:nvPr/>
        </p:nvSpPr>
        <p:spPr>
          <a:xfrm>
            <a:off x="2537369" y="2494117"/>
            <a:ext cx="142646" cy="142646"/>
          </a:xfrm>
          <a:prstGeom prst="roundRect">
            <a:avLst>
              <a:gd name="adj" fmla="val 20000"/>
            </a:avLst>
          </a:prstGeom>
          <a:solidFill>
            <a:srgbClr val="242938"/>
          </a:solidFill>
          <a:ln w="12700">
            <a:solidFill>
              <a:srgbClr val="2429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46419" y="2850733"/>
            <a:ext cx="1469258" cy="320954"/>
          </a:xfrm>
          <a:prstGeom prst="roundRect">
            <a:avLst>
              <a:gd name="adj" fmla="val 17778"/>
            </a:avLst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32006" y="2922057"/>
            <a:ext cx="178308" cy="178308"/>
          </a:xfrm>
          <a:prstGeom prst="roundRect">
            <a:avLst>
              <a:gd name="adj" fmla="val 50000"/>
            </a:avLst>
          </a:prstGeom>
          <a:solidFill>
            <a:srgbClr val="242938"/>
          </a:solidFill>
          <a:ln w="12700">
            <a:solidFill>
              <a:srgbClr val="2429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67373" y="2872130"/>
            <a:ext cx="1069848" cy="128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6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Shop</a:t>
            </a:r>
            <a:endParaRPr lang="en-US" sz="546" dirty="0"/>
          </a:p>
        </p:txBody>
      </p:sp>
      <p:sp>
        <p:nvSpPr>
          <p:cNvPr id="14" name="Text 12"/>
          <p:cNvSpPr/>
          <p:nvPr/>
        </p:nvSpPr>
        <p:spPr>
          <a:xfrm>
            <a:off x="1567373" y="2986248"/>
            <a:ext cx="1141171" cy="156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CSUN Barber Shop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1246419" y="3257276"/>
            <a:ext cx="1469258" cy="855878"/>
          </a:xfrm>
          <a:prstGeom prst="roundRect">
            <a:avLst>
              <a:gd name="adj" fmla="val 6667"/>
            </a:avLst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32006" y="3314334"/>
            <a:ext cx="1069848" cy="114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6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Appointment</a:t>
            </a:r>
            <a:endParaRPr lang="en-US" sz="546" dirty="0"/>
          </a:p>
        </p:txBody>
      </p:sp>
      <p:sp>
        <p:nvSpPr>
          <p:cNvPr id="17" name="Text 15"/>
          <p:cNvSpPr/>
          <p:nvPr/>
        </p:nvSpPr>
        <p:spPr>
          <a:xfrm>
            <a:off x="1332006" y="3399922"/>
            <a:ext cx="1141171" cy="156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6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3:30 PM</a:t>
            </a:r>
            <a:endParaRPr lang="en-US" sz="936" dirty="0"/>
          </a:p>
        </p:txBody>
      </p:sp>
      <p:sp>
        <p:nvSpPr>
          <p:cNvPr id="18" name="Shape 16"/>
          <p:cNvSpPr/>
          <p:nvPr/>
        </p:nvSpPr>
        <p:spPr>
          <a:xfrm>
            <a:off x="1332006" y="3613892"/>
            <a:ext cx="256764" cy="256764"/>
          </a:xfrm>
          <a:prstGeom prst="roundRect">
            <a:avLst>
              <a:gd name="adj" fmla="val 50000"/>
            </a:avLst>
          </a:prstGeom>
          <a:solidFill>
            <a:srgbClr val="D4A547"/>
          </a:solidFill>
          <a:ln w="12700">
            <a:solidFill>
              <a:srgbClr val="D4A5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38696" y="3628156"/>
            <a:ext cx="998525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2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Terry Davis</a:t>
            </a:r>
            <a:endParaRPr lang="en-US" sz="702" dirty="0"/>
          </a:p>
        </p:txBody>
      </p:sp>
      <p:sp>
        <p:nvSpPr>
          <p:cNvPr id="20" name="Text 18"/>
          <p:cNvSpPr/>
          <p:nvPr/>
        </p:nvSpPr>
        <p:spPr>
          <a:xfrm>
            <a:off x="1638696" y="3742273"/>
            <a:ext cx="998525" cy="114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6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Barber</a:t>
            </a:r>
            <a:endParaRPr lang="en-US" sz="546" dirty="0"/>
          </a:p>
        </p:txBody>
      </p:sp>
      <p:sp>
        <p:nvSpPr>
          <p:cNvPr id="21" name="Text 19"/>
          <p:cNvSpPr/>
          <p:nvPr/>
        </p:nvSpPr>
        <p:spPr>
          <a:xfrm>
            <a:off x="1332006" y="3913449"/>
            <a:ext cx="1283818" cy="114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6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  ·  CSUN Barber Shop</a:t>
            </a:r>
            <a:endParaRPr lang="en-US" sz="546" dirty="0"/>
          </a:p>
        </p:txBody>
      </p:sp>
      <p:sp>
        <p:nvSpPr>
          <p:cNvPr id="22" name="Shape 20"/>
          <p:cNvSpPr/>
          <p:nvPr/>
        </p:nvSpPr>
        <p:spPr>
          <a:xfrm>
            <a:off x="1246419" y="4198742"/>
            <a:ext cx="1469258" cy="328087"/>
          </a:xfrm>
          <a:prstGeom prst="roundRect">
            <a:avLst>
              <a:gd name="adj" fmla="val 1739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46419" y="4198742"/>
            <a:ext cx="1469258" cy="328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New Appointment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1246419" y="4612416"/>
            <a:ext cx="1469258" cy="1319479"/>
          </a:xfrm>
          <a:prstGeom prst="roundRect">
            <a:avLst>
              <a:gd name="adj" fmla="val 4324"/>
            </a:avLst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32006" y="4683740"/>
            <a:ext cx="1069848" cy="128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2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Visits</a:t>
            </a:r>
            <a:endParaRPr lang="en-US" sz="702" dirty="0"/>
          </a:p>
        </p:txBody>
      </p:sp>
      <p:sp>
        <p:nvSpPr>
          <p:cNvPr id="26" name="Text 24"/>
          <p:cNvSpPr/>
          <p:nvPr/>
        </p:nvSpPr>
        <p:spPr>
          <a:xfrm>
            <a:off x="1332006" y="4897709"/>
            <a:ext cx="998525" cy="128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4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Fade Cut</a:t>
            </a:r>
            <a:endParaRPr lang="en-US" sz="624" dirty="0"/>
          </a:p>
        </p:txBody>
      </p:sp>
      <p:sp>
        <p:nvSpPr>
          <p:cNvPr id="27" name="Text 25"/>
          <p:cNvSpPr/>
          <p:nvPr/>
        </p:nvSpPr>
        <p:spPr>
          <a:xfrm>
            <a:off x="1332006" y="5026091"/>
            <a:ext cx="998525" cy="9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8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Terry Davis · Apr 20</a:t>
            </a:r>
            <a:endParaRPr lang="en-US" sz="468" dirty="0"/>
          </a:p>
        </p:txBody>
      </p:sp>
      <p:sp>
        <p:nvSpPr>
          <p:cNvPr id="28" name="Text 26"/>
          <p:cNvSpPr/>
          <p:nvPr/>
        </p:nvSpPr>
        <p:spPr>
          <a:xfrm>
            <a:off x="2430384" y="4926239"/>
            <a:ext cx="285293" cy="114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6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546" dirty="0"/>
          </a:p>
        </p:txBody>
      </p:sp>
      <p:sp>
        <p:nvSpPr>
          <p:cNvPr id="29" name="Shape 27"/>
          <p:cNvSpPr/>
          <p:nvPr/>
        </p:nvSpPr>
        <p:spPr>
          <a:xfrm>
            <a:off x="1332006" y="5140208"/>
            <a:ext cx="1298082" cy="7132"/>
          </a:xfrm>
          <a:prstGeom prst="rect">
            <a:avLst/>
          </a:prstGeom>
          <a:solidFill>
            <a:srgbClr val="242938"/>
          </a:solidFill>
          <a:ln w="12700">
            <a:solidFill>
              <a:srgbClr val="2429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32006" y="5154473"/>
            <a:ext cx="998525" cy="128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4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Beard Trim</a:t>
            </a:r>
            <a:endParaRPr lang="en-US" sz="624" dirty="0"/>
          </a:p>
        </p:txBody>
      </p:sp>
      <p:sp>
        <p:nvSpPr>
          <p:cNvPr id="31" name="Text 29"/>
          <p:cNvSpPr/>
          <p:nvPr/>
        </p:nvSpPr>
        <p:spPr>
          <a:xfrm>
            <a:off x="1332006" y="5282855"/>
            <a:ext cx="998525" cy="9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8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Terry Davis · Apr 14</a:t>
            </a:r>
            <a:endParaRPr lang="en-US" sz="468" dirty="0"/>
          </a:p>
        </p:txBody>
      </p:sp>
      <p:sp>
        <p:nvSpPr>
          <p:cNvPr id="32" name="Text 30"/>
          <p:cNvSpPr/>
          <p:nvPr/>
        </p:nvSpPr>
        <p:spPr>
          <a:xfrm>
            <a:off x="2430384" y="5183002"/>
            <a:ext cx="285293" cy="114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6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546" dirty="0"/>
          </a:p>
        </p:txBody>
      </p:sp>
      <p:sp>
        <p:nvSpPr>
          <p:cNvPr id="33" name="Shape 31"/>
          <p:cNvSpPr/>
          <p:nvPr/>
        </p:nvSpPr>
        <p:spPr>
          <a:xfrm>
            <a:off x="1332006" y="5396972"/>
            <a:ext cx="1298082" cy="7132"/>
          </a:xfrm>
          <a:prstGeom prst="rect">
            <a:avLst/>
          </a:prstGeom>
          <a:solidFill>
            <a:srgbClr val="242938"/>
          </a:solidFill>
          <a:ln w="12700">
            <a:solidFill>
              <a:srgbClr val="2429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32006" y="5411236"/>
            <a:ext cx="998525" cy="128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4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Fade Cut</a:t>
            </a:r>
            <a:endParaRPr lang="en-US" sz="624" dirty="0"/>
          </a:p>
        </p:txBody>
      </p:sp>
      <p:sp>
        <p:nvSpPr>
          <p:cNvPr id="35" name="Text 33"/>
          <p:cNvSpPr/>
          <p:nvPr/>
        </p:nvSpPr>
        <p:spPr>
          <a:xfrm>
            <a:off x="1332006" y="5539618"/>
            <a:ext cx="998525" cy="9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8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Terry Davis · Apr 8</a:t>
            </a:r>
            <a:endParaRPr lang="en-US" sz="468" dirty="0"/>
          </a:p>
        </p:txBody>
      </p:sp>
      <p:sp>
        <p:nvSpPr>
          <p:cNvPr id="36" name="Text 34"/>
          <p:cNvSpPr/>
          <p:nvPr/>
        </p:nvSpPr>
        <p:spPr>
          <a:xfrm>
            <a:off x="2430384" y="5439766"/>
            <a:ext cx="285293" cy="114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6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546" dirty="0"/>
          </a:p>
        </p:txBody>
      </p:sp>
      <p:sp>
        <p:nvSpPr>
          <p:cNvPr id="37" name="Shape 35"/>
          <p:cNvSpPr/>
          <p:nvPr/>
        </p:nvSpPr>
        <p:spPr>
          <a:xfrm>
            <a:off x="1332006" y="5653735"/>
            <a:ext cx="1298082" cy="7132"/>
          </a:xfrm>
          <a:prstGeom prst="rect">
            <a:avLst/>
          </a:prstGeom>
          <a:solidFill>
            <a:srgbClr val="242938"/>
          </a:solidFill>
          <a:ln w="12700">
            <a:solidFill>
              <a:srgbClr val="2429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32006" y="5668000"/>
            <a:ext cx="998525" cy="128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4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Beard Trim</a:t>
            </a:r>
            <a:endParaRPr lang="en-US" sz="624" dirty="0"/>
          </a:p>
        </p:txBody>
      </p:sp>
      <p:sp>
        <p:nvSpPr>
          <p:cNvPr id="39" name="Text 37"/>
          <p:cNvSpPr/>
          <p:nvPr/>
        </p:nvSpPr>
        <p:spPr>
          <a:xfrm>
            <a:off x="1332006" y="5796382"/>
            <a:ext cx="998525" cy="9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8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Terry Davis · Apr 3</a:t>
            </a:r>
            <a:endParaRPr lang="en-US" sz="468" dirty="0"/>
          </a:p>
        </p:txBody>
      </p:sp>
      <p:sp>
        <p:nvSpPr>
          <p:cNvPr id="40" name="Text 38"/>
          <p:cNvSpPr/>
          <p:nvPr/>
        </p:nvSpPr>
        <p:spPr>
          <a:xfrm>
            <a:off x="2430384" y="5696529"/>
            <a:ext cx="285293" cy="114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6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546" dirty="0"/>
          </a:p>
        </p:txBody>
      </p:sp>
      <p:sp>
        <p:nvSpPr>
          <p:cNvPr id="41" name="Text 39"/>
          <p:cNvSpPr/>
          <p:nvPr/>
        </p:nvSpPr>
        <p:spPr>
          <a:xfrm>
            <a:off x="906628" y="6137453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146908" y="2194560"/>
            <a:ext cx="1783080" cy="3851453"/>
          </a:xfrm>
          <a:prstGeom prst="roundRect">
            <a:avLst>
              <a:gd name="adj" fmla="val 8800"/>
            </a:avLst>
          </a:prstGeom>
          <a:solidFill>
            <a:srgbClr val="1F2330"/>
          </a:solidFill>
          <a:ln w="15240">
            <a:solidFill>
              <a:srgbClr val="3A405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196834" y="2244486"/>
            <a:ext cx="1683228" cy="3751600"/>
          </a:xfrm>
          <a:prstGeom prst="roundRect">
            <a:avLst>
              <a:gd name="adj" fmla="val 7627"/>
            </a:avLst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717493" y="2280148"/>
            <a:ext cx="641909" cy="12838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03819" y="2472720"/>
            <a:ext cx="21397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2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092" dirty="0"/>
          </a:p>
        </p:txBody>
      </p:sp>
      <p:sp>
        <p:nvSpPr>
          <p:cNvPr id="46" name="Text 44"/>
          <p:cNvSpPr/>
          <p:nvPr/>
        </p:nvSpPr>
        <p:spPr>
          <a:xfrm>
            <a:off x="3517788" y="2472720"/>
            <a:ext cx="1426464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2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Barber</a:t>
            </a:r>
            <a:endParaRPr lang="en-US" sz="1092" dirty="0"/>
          </a:p>
        </p:txBody>
      </p:sp>
      <p:sp>
        <p:nvSpPr>
          <p:cNvPr id="47" name="Shape 45"/>
          <p:cNvSpPr/>
          <p:nvPr/>
        </p:nvSpPr>
        <p:spPr>
          <a:xfrm>
            <a:off x="3303819" y="2800807"/>
            <a:ext cx="499262" cy="156911"/>
          </a:xfrm>
          <a:prstGeom prst="roundRect">
            <a:avLst>
              <a:gd name="adj" fmla="val 50000"/>
            </a:avLst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03819" y="2800807"/>
            <a:ext cx="499262" cy="156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7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CSUN</a:t>
            </a:r>
            <a:endParaRPr lang="en-US" sz="507" dirty="0"/>
          </a:p>
        </p:txBody>
      </p:sp>
      <p:sp>
        <p:nvSpPr>
          <p:cNvPr id="49" name="Shape 47"/>
          <p:cNvSpPr/>
          <p:nvPr/>
        </p:nvSpPr>
        <p:spPr>
          <a:xfrm>
            <a:off x="3860140" y="2800807"/>
            <a:ext cx="499262" cy="156911"/>
          </a:xfrm>
          <a:prstGeom prst="roundRect">
            <a:avLst>
              <a:gd name="adj" fmla="val 50000"/>
            </a:avLst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60140" y="2800807"/>
            <a:ext cx="499262" cy="156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7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507" dirty="0"/>
          </a:p>
        </p:txBody>
      </p:sp>
      <p:sp>
        <p:nvSpPr>
          <p:cNvPr id="51" name="Shape 49"/>
          <p:cNvSpPr/>
          <p:nvPr/>
        </p:nvSpPr>
        <p:spPr>
          <a:xfrm>
            <a:off x="4416461" y="2800807"/>
            <a:ext cx="499262" cy="156911"/>
          </a:xfrm>
          <a:prstGeom prst="roundRect">
            <a:avLst>
              <a:gd name="adj" fmla="val 50000"/>
            </a:avLst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16461" y="2800807"/>
            <a:ext cx="499262" cy="156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7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507" dirty="0"/>
          </a:p>
        </p:txBody>
      </p:sp>
      <p:sp>
        <p:nvSpPr>
          <p:cNvPr id="53" name="Text 51"/>
          <p:cNvSpPr/>
          <p:nvPr/>
        </p:nvSpPr>
        <p:spPr>
          <a:xfrm>
            <a:off x="3303819" y="3086100"/>
            <a:ext cx="1069848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2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Matches</a:t>
            </a:r>
            <a:endParaRPr lang="en-US" sz="702" dirty="0"/>
          </a:p>
        </p:txBody>
      </p:sp>
      <p:sp>
        <p:nvSpPr>
          <p:cNvPr id="54" name="Shape 52"/>
          <p:cNvSpPr/>
          <p:nvPr/>
        </p:nvSpPr>
        <p:spPr>
          <a:xfrm>
            <a:off x="3303819" y="3278673"/>
            <a:ext cx="1469258" cy="606247"/>
          </a:xfrm>
          <a:prstGeom prst="roundRect">
            <a:avLst>
              <a:gd name="adj" fmla="val 9412"/>
            </a:avLst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389406" y="3371393"/>
            <a:ext cx="256764" cy="256764"/>
          </a:xfrm>
          <a:prstGeom prst="roundRect">
            <a:avLst>
              <a:gd name="adj" fmla="val 50000"/>
            </a:avLst>
          </a:prstGeom>
          <a:solidFill>
            <a:srgbClr val="D4A547"/>
          </a:solidFill>
          <a:ln w="12700">
            <a:solidFill>
              <a:srgbClr val="D4A54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96096" y="3349996"/>
            <a:ext cx="927202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2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Terry Davis</a:t>
            </a:r>
            <a:endParaRPr lang="en-US" sz="702" dirty="0"/>
          </a:p>
        </p:txBody>
      </p:sp>
      <p:sp>
        <p:nvSpPr>
          <p:cNvPr id="57" name="Text 55"/>
          <p:cNvSpPr/>
          <p:nvPr/>
        </p:nvSpPr>
        <p:spPr>
          <a:xfrm>
            <a:off x="3696096" y="3471245"/>
            <a:ext cx="927202" cy="114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7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Barber · $50</a:t>
            </a:r>
            <a:endParaRPr lang="en-US" sz="507" dirty="0"/>
          </a:p>
        </p:txBody>
      </p:sp>
      <p:sp>
        <p:nvSpPr>
          <p:cNvPr id="58" name="Text 56"/>
          <p:cNvSpPr/>
          <p:nvPr/>
        </p:nvSpPr>
        <p:spPr>
          <a:xfrm>
            <a:off x="3696096" y="3599627"/>
            <a:ext cx="1069848" cy="114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8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 · 2:30 PM · CSUN</a:t>
            </a:r>
            <a:endParaRPr lang="en-US" sz="468" dirty="0"/>
          </a:p>
        </p:txBody>
      </p:sp>
      <p:sp>
        <p:nvSpPr>
          <p:cNvPr id="59" name="Text 57"/>
          <p:cNvSpPr/>
          <p:nvPr/>
        </p:nvSpPr>
        <p:spPr>
          <a:xfrm>
            <a:off x="4630430" y="3506907"/>
            <a:ext cx="14264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936" dirty="0"/>
          </a:p>
        </p:txBody>
      </p:sp>
      <p:sp>
        <p:nvSpPr>
          <p:cNvPr id="60" name="Shape 58"/>
          <p:cNvSpPr/>
          <p:nvPr/>
        </p:nvSpPr>
        <p:spPr>
          <a:xfrm>
            <a:off x="3303819" y="3956243"/>
            <a:ext cx="1469258" cy="606247"/>
          </a:xfrm>
          <a:prstGeom prst="roundRect">
            <a:avLst>
              <a:gd name="adj" fmla="val 9412"/>
            </a:avLst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389406" y="4048963"/>
            <a:ext cx="256764" cy="256764"/>
          </a:xfrm>
          <a:prstGeom prst="roundRect">
            <a:avLst>
              <a:gd name="adj" fmla="val 50000"/>
            </a:avLst>
          </a:prstGeom>
          <a:solidFill>
            <a:srgbClr val="D4A547"/>
          </a:solidFill>
          <a:ln w="12700">
            <a:solidFill>
              <a:srgbClr val="D4A54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96096" y="4027566"/>
            <a:ext cx="927202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2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 Davis</a:t>
            </a:r>
            <a:endParaRPr lang="en-US" sz="702" dirty="0"/>
          </a:p>
        </p:txBody>
      </p:sp>
      <p:sp>
        <p:nvSpPr>
          <p:cNvPr id="63" name="Text 61"/>
          <p:cNvSpPr/>
          <p:nvPr/>
        </p:nvSpPr>
        <p:spPr>
          <a:xfrm>
            <a:off x="3696096" y="4148816"/>
            <a:ext cx="927202" cy="114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7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Barber · $50</a:t>
            </a:r>
            <a:endParaRPr lang="en-US" sz="507" dirty="0"/>
          </a:p>
        </p:txBody>
      </p:sp>
      <p:sp>
        <p:nvSpPr>
          <p:cNvPr id="64" name="Text 62"/>
          <p:cNvSpPr/>
          <p:nvPr/>
        </p:nvSpPr>
        <p:spPr>
          <a:xfrm>
            <a:off x="3696096" y="4277197"/>
            <a:ext cx="1069848" cy="114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8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 · 2:30 PM · CSUN</a:t>
            </a:r>
            <a:endParaRPr lang="en-US" sz="468" dirty="0"/>
          </a:p>
        </p:txBody>
      </p:sp>
      <p:sp>
        <p:nvSpPr>
          <p:cNvPr id="65" name="Text 63"/>
          <p:cNvSpPr/>
          <p:nvPr/>
        </p:nvSpPr>
        <p:spPr>
          <a:xfrm>
            <a:off x="4630430" y="4184477"/>
            <a:ext cx="14264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936" dirty="0"/>
          </a:p>
        </p:txBody>
      </p:sp>
      <p:sp>
        <p:nvSpPr>
          <p:cNvPr id="66" name="Shape 64"/>
          <p:cNvSpPr/>
          <p:nvPr/>
        </p:nvSpPr>
        <p:spPr>
          <a:xfrm>
            <a:off x="3303819" y="4633813"/>
            <a:ext cx="1469258" cy="606247"/>
          </a:xfrm>
          <a:prstGeom prst="roundRect">
            <a:avLst>
              <a:gd name="adj" fmla="val 9412"/>
            </a:avLst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389406" y="4726534"/>
            <a:ext cx="256764" cy="256764"/>
          </a:xfrm>
          <a:prstGeom prst="roundRect">
            <a:avLst>
              <a:gd name="adj" fmla="val 50000"/>
            </a:avLst>
          </a:prstGeom>
          <a:solidFill>
            <a:srgbClr val="D4A547"/>
          </a:solidFill>
          <a:ln w="12700">
            <a:solidFill>
              <a:srgbClr val="D4A54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696096" y="4705137"/>
            <a:ext cx="927202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2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George Smith</a:t>
            </a:r>
            <a:endParaRPr lang="en-US" sz="702" dirty="0"/>
          </a:p>
        </p:txBody>
      </p:sp>
      <p:sp>
        <p:nvSpPr>
          <p:cNvPr id="69" name="Text 67"/>
          <p:cNvSpPr/>
          <p:nvPr/>
        </p:nvSpPr>
        <p:spPr>
          <a:xfrm>
            <a:off x="3696096" y="4826386"/>
            <a:ext cx="927202" cy="114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7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Novice Barber · $40</a:t>
            </a:r>
            <a:endParaRPr lang="en-US" sz="507" dirty="0"/>
          </a:p>
        </p:txBody>
      </p:sp>
      <p:sp>
        <p:nvSpPr>
          <p:cNvPr id="70" name="Text 68"/>
          <p:cNvSpPr/>
          <p:nvPr/>
        </p:nvSpPr>
        <p:spPr>
          <a:xfrm>
            <a:off x="3696096" y="4954768"/>
            <a:ext cx="1069848" cy="114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8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 · 2:30 PM · CSUN</a:t>
            </a:r>
            <a:endParaRPr lang="en-US" sz="468" dirty="0"/>
          </a:p>
        </p:txBody>
      </p:sp>
      <p:sp>
        <p:nvSpPr>
          <p:cNvPr id="71" name="Text 69"/>
          <p:cNvSpPr/>
          <p:nvPr/>
        </p:nvSpPr>
        <p:spPr>
          <a:xfrm>
            <a:off x="4630430" y="4862048"/>
            <a:ext cx="14264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936" dirty="0"/>
          </a:p>
        </p:txBody>
      </p:sp>
      <p:sp>
        <p:nvSpPr>
          <p:cNvPr id="72" name="Shape 70"/>
          <p:cNvSpPr/>
          <p:nvPr/>
        </p:nvSpPr>
        <p:spPr>
          <a:xfrm>
            <a:off x="3303819" y="5311384"/>
            <a:ext cx="1469258" cy="606247"/>
          </a:xfrm>
          <a:prstGeom prst="roundRect">
            <a:avLst>
              <a:gd name="adj" fmla="val 9412"/>
            </a:avLst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389406" y="5404104"/>
            <a:ext cx="256764" cy="256764"/>
          </a:xfrm>
          <a:prstGeom prst="roundRect">
            <a:avLst>
              <a:gd name="adj" fmla="val 50000"/>
            </a:avLst>
          </a:prstGeom>
          <a:solidFill>
            <a:srgbClr val="D4A547"/>
          </a:solidFill>
          <a:ln w="12700">
            <a:solidFill>
              <a:srgbClr val="D4A547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696096" y="5382707"/>
            <a:ext cx="927202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2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Appleseed</a:t>
            </a:r>
            <a:endParaRPr lang="en-US" sz="702" dirty="0"/>
          </a:p>
        </p:txBody>
      </p:sp>
      <p:sp>
        <p:nvSpPr>
          <p:cNvPr id="75" name="Text 73"/>
          <p:cNvSpPr/>
          <p:nvPr/>
        </p:nvSpPr>
        <p:spPr>
          <a:xfrm>
            <a:off x="3696096" y="5503956"/>
            <a:ext cx="927202" cy="114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7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Barber · $30</a:t>
            </a:r>
            <a:endParaRPr lang="en-US" sz="507" dirty="0"/>
          </a:p>
        </p:txBody>
      </p:sp>
      <p:sp>
        <p:nvSpPr>
          <p:cNvPr id="76" name="Text 74"/>
          <p:cNvSpPr/>
          <p:nvPr/>
        </p:nvSpPr>
        <p:spPr>
          <a:xfrm>
            <a:off x="3696096" y="5632338"/>
            <a:ext cx="1069848" cy="114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8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 · 2:30 PM · CSUN</a:t>
            </a:r>
            <a:endParaRPr lang="en-US" sz="468" dirty="0"/>
          </a:p>
        </p:txBody>
      </p:sp>
      <p:sp>
        <p:nvSpPr>
          <p:cNvPr id="77" name="Text 75"/>
          <p:cNvSpPr/>
          <p:nvPr/>
        </p:nvSpPr>
        <p:spPr>
          <a:xfrm>
            <a:off x="4630430" y="5539618"/>
            <a:ext cx="14264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936" dirty="0"/>
          </a:p>
        </p:txBody>
      </p:sp>
      <p:sp>
        <p:nvSpPr>
          <p:cNvPr id="78" name="Text 76"/>
          <p:cNvSpPr/>
          <p:nvPr/>
        </p:nvSpPr>
        <p:spPr>
          <a:xfrm>
            <a:off x="2964028" y="6137453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5204308" y="2194560"/>
            <a:ext cx="1783080" cy="3851453"/>
          </a:xfrm>
          <a:prstGeom prst="roundRect">
            <a:avLst>
              <a:gd name="adj" fmla="val 8800"/>
            </a:avLst>
          </a:prstGeom>
          <a:solidFill>
            <a:srgbClr val="1F2330"/>
          </a:solidFill>
          <a:ln w="15240">
            <a:solidFill>
              <a:srgbClr val="3A4055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254234" y="2244486"/>
            <a:ext cx="1683228" cy="3751600"/>
          </a:xfrm>
          <a:prstGeom prst="roundRect">
            <a:avLst>
              <a:gd name="adj" fmla="val 7627"/>
            </a:avLst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774893" y="2280148"/>
            <a:ext cx="641909" cy="12838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361219" y="2472720"/>
            <a:ext cx="21397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2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092" dirty="0"/>
          </a:p>
        </p:txBody>
      </p:sp>
      <p:sp>
        <p:nvSpPr>
          <p:cNvPr id="83" name="Text 81"/>
          <p:cNvSpPr/>
          <p:nvPr/>
        </p:nvSpPr>
        <p:spPr>
          <a:xfrm>
            <a:off x="5575188" y="2444191"/>
            <a:ext cx="1426464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2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Time</a:t>
            </a:r>
            <a:endParaRPr lang="en-US" sz="1092" dirty="0"/>
          </a:p>
        </p:txBody>
      </p:sp>
      <p:sp>
        <p:nvSpPr>
          <p:cNvPr id="84" name="Text 82"/>
          <p:cNvSpPr/>
          <p:nvPr/>
        </p:nvSpPr>
        <p:spPr>
          <a:xfrm>
            <a:off x="5575188" y="2636764"/>
            <a:ext cx="1426464" cy="128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4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Terry Davis</a:t>
            </a:r>
            <a:endParaRPr lang="en-US" sz="624" dirty="0"/>
          </a:p>
        </p:txBody>
      </p:sp>
      <p:sp>
        <p:nvSpPr>
          <p:cNvPr id="85" name="Shape 83"/>
          <p:cNvSpPr/>
          <p:nvPr/>
        </p:nvSpPr>
        <p:spPr>
          <a:xfrm>
            <a:off x="5361219" y="2850733"/>
            <a:ext cx="855878" cy="156911"/>
          </a:xfrm>
          <a:prstGeom prst="roundRect">
            <a:avLst>
              <a:gd name="adj" fmla="val 50000"/>
            </a:avLst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361219" y="2850733"/>
            <a:ext cx="855878" cy="156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7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Afternoon</a:t>
            </a:r>
            <a:endParaRPr lang="en-US" sz="507" dirty="0"/>
          </a:p>
        </p:txBody>
      </p:sp>
      <p:sp>
        <p:nvSpPr>
          <p:cNvPr id="87" name="Text 85"/>
          <p:cNvSpPr/>
          <p:nvPr/>
        </p:nvSpPr>
        <p:spPr>
          <a:xfrm>
            <a:off x="5361219" y="3086100"/>
            <a:ext cx="1469258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6" spc="200" kern="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10:15 AM</a:t>
            </a:r>
            <a:endParaRPr lang="en-US" sz="546" dirty="0"/>
          </a:p>
        </p:txBody>
      </p:sp>
      <p:sp>
        <p:nvSpPr>
          <p:cNvPr id="88" name="Shape 86"/>
          <p:cNvSpPr/>
          <p:nvPr/>
        </p:nvSpPr>
        <p:spPr>
          <a:xfrm>
            <a:off x="5361219" y="3314334"/>
            <a:ext cx="1469258" cy="299557"/>
          </a:xfrm>
          <a:prstGeom prst="roundRect">
            <a:avLst>
              <a:gd name="adj" fmla="val 19048"/>
            </a:avLst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446806" y="3349996"/>
            <a:ext cx="855878" cy="128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2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10:30 AM</a:t>
            </a:r>
            <a:endParaRPr lang="en-US" sz="702" dirty="0"/>
          </a:p>
        </p:txBody>
      </p:sp>
      <p:sp>
        <p:nvSpPr>
          <p:cNvPr id="90" name="Text 88"/>
          <p:cNvSpPr/>
          <p:nvPr/>
        </p:nvSpPr>
        <p:spPr>
          <a:xfrm>
            <a:off x="5446806" y="3471245"/>
            <a:ext cx="855878" cy="9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7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appointment</a:t>
            </a:r>
            <a:endParaRPr lang="en-US" sz="507" dirty="0"/>
          </a:p>
        </p:txBody>
      </p:sp>
      <p:sp>
        <p:nvSpPr>
          <p:cNvPr id="91" name="Text 89"/>
          <p:cNvSpPr/>
          <p:nvPr/>
        </p:nvSpPr>
        <p:spPr>
          <a:xfrm>
            <a:off x="6687830" y="3385657"/>
            <a:ext cx="14264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936" dirty="0"/>
          </a:p>
        </p:txBody>
      </p:sp>
      <p:sp>
        <p:nvSpPr>
          <p:cNvPr id="92" name="Shape 90"/>
          <p:cNvSpPr/>
          <p:nvPr/>
        </p:nvSpPr>
        <p:spPr>
          <a:xfrm>
            <a:off x="5361219" y="3670950"/>
            <a:ext cx="1469258" cy="299557"/>
          </a:xfrm>
          <a:prstGeom prst="roundRect">
            <a:avLst>
              <a:gd name="adj" fmla="val 19048"/>
            </a:avLst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446806" y="3706612"/>
            <a:ext cx="855878" cy="128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2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 AM</a:t>
            </a:r>
            <a:endParaRPr lang="en-US" sz="702" dirty="0"/>
          </a:p>
        </p:txBody>
      </p:sp>
      <p:sp>
        <p:nvSpPr>
          <p:cNvPr id="94" name="Text 92"/>
          <p:cNvSpPr/>
          <p:nvPr/>
        </p:nvSpPr>
        <p:spPr>
          <a:xfrm>
            <a:off x="5446806" y="3827861"/>
            <a:ext cx="855878" cy="9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7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appointment</a:t>
            </a:r>
            <a:endParaRPr lang="en-US" sz="507" dirty="0"/>
          </a:p>
        </p:txBody>
      </p:sp>
      <p:sp>
        <p:nvSpPr>
          <p:cNvPr id="95" name="Text 93"/>
          <p:cNvSpPr/>
          <p:nvPr/>
        </p:nvSpPr>
        <p:spPr>
          <a:xfrm>
            <a:off x="6687830" y="3742273"/>
            <a:ext cx="14264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936" dirty="0"/>
          </a:p>
        </p:txBody>
      </p:sp>
      <p:sp>
        <p:nvSpPr>
          <p:cNvPr id="96" name="Shape 94"/>
          <p:cNvSpPr/>
          <p:nvPr/>
        </p:nvSpPr>
        <p:spPr>
          <a:xfrm>
            <a:off x="5361219" y="4027566"/>
            <a:ext cx="1469258" cy="299557"/>
          </a:xfrm>
          <a:prstGeom prst="roundRect">
            <a:avLst>
              <a:gd name="adj" fmla="val 19048"/>
            </a:avLst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446806" y="4063228"/>
            <a:ext cx="855878" cy="128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2" b="1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11:30 AM</a:t>
            </a:r>
            <a:endParaRPr lang="en-US" sz="702" dirty="0"/>
          </a:p>
        </p:txBody>
      </p:sp>
      <p:sp>
        <p:nvSpPr>
          <p:cNvPr id="98" name="Text 96"/>
          <p:cNvSpPr/>
          <p:nvPr/>
        </p:nvSpPr>
        <p:spPr>
          <a:xfrm>
            <a:off x="5446806" y="4184477"/>
            <a:ext cx="855878" cy="9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7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unavailable</a:t>
            </a:r>
            <a:endParaRPr lang="en-US" sz="507" dirty="0"/>
          </a:p>
        </p:txBody>
      </p:sp>
      <p:sp>
        <p:nvSpPr>
          <p:cNvPr id="99" name="Text 97"/>
          <p:cNvSpPr/>
          <p:nvPr/>
        </p:nvSpPr>
        <p:spPr>
          <a:xfrm>
            <a:off x="6687830" y="4098889"/>
            <a:ext cx="14264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936" dirty="0"/>
          </a:p>
        </p:txBody>
      </p:sp>
      <p:sp>
        <p:nvSpPr>
          <p:cNvPr id="100" name="Shape 98"/>
          <p:cNvSpPr/>
          <p:nvPr/>
        </p:nvSpPr>
        <p:spPr>
          <a:xfrm>
            <a:off x="5361219" y="4384182"/>
            <a:ext cx="1469258" cy="299557"/>
          </a:xfrm>
          <a:prstGeom prst="roundRect">
            <a:avLst>
              <a:gd name="adj" fmla="val 19048"/>
            </a:avLst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446806" y="4419844"/>
            <a:ext cx="855878" cy="128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2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 PM</a:t>
            </a:r>
            <a:endParaRPr lang="en-US" sz="702" dirty="0"/>
          </a:p>
        </p:txBody>
      </p:sp>
      <p:sp>
        <p:nvSpPr>
          <p:cNvPr id="102" name="Text 100"/>
          <p:cNvSpPr/>
          <p:nvPr/>
        </p:nvSpPr>
        <p:spPr>
          <a:xfrm>
            <a:off x="5446806" y="4541093"/>
            <a:ext cx="855878" cy="9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7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appointment</a:t>
            </a:r>
            <a:endParaRPr lang="en-US" sz="507" dirty="0"/>
          </a:p>
        </p:txBody>
      </p:sp>
      <p:sp>
        <p:nvSpPr>
          <p:cNvPr id="103" name="Text 101"/>
          <p:cNvSpPr/>
          <p:nvPr/>
        </p:nvSpPr>
        <p:spPr>
          <a:xfrm>
            <a:off x="6687830" y="4455505"/>
            <a:ext cx="14264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936" dirty="0"/>
          </a:p>
        </p:txBody>
      </p:sp>
      <p:sp>
        <p:nvSpPr>
          <p:cNvPr id="104" name="Shape 102"/>
          <p:cNvSpPr/>
          <p:nvPr/>
        </p:nvSpPr>
        <p:spPr>
          <a:xfrm>
            <a:off x="5361219" y="4740798"/>
            <a:ext cx="1469258" cy="299557"/>
          </a:xfrm>
          <a:prstGeom prst="roundRect">
            <a:avLst>
              <a:gd name="adj" fmla="val 19048"/>
            </a:avLst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446806" y="4776460"/>
            <a:ext cx="855878" cy="128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2" b="1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12:30 PM</a:t>
            </a:r>
            <a:endParaRPr lang="en-US" sz="702" dirty="0"/>
          </a:p>
        </p:txBody>
      </p:sp>
      <p:sp>
        <p:nvSpPr>
          <p:cNvPr id="106" name="Text 104"/>
          <p:cNvSpPr/>
          <p:nvPr/>
        </p:nvSpPr>
        <p:spPr>
          <a:xfrm>
            <a:off x="5446806" y="4897709"/>
            <a:ext cx="855878" cy="9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7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unavailable</a:t>
            </a:r>
            <a:endParaRPr lang="en-US" sz="507" dirty="0"/>
          </a:p>
        </p:txBody>
      </p:sp>
      <p:sp>
        <p:nvSpPr>
          <p:cNvPr id="107" name="Text 105"/>
          <p:cNvSpPr/>
          <p:nvPr/>
        </p:nvSpPr>
        <p:spPr>
          <a:xfrm>
            <a:off x="6687830" y="4812121"/>
            <a:ext cx="14264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936" dirty="0"/>
          </a:p>
        </p:txBody>
      </p:sp>
      <p:sp>
        <p:nvSpPr>
          <p:cNvPr id="108" name="Shape 106"/>
          <p:cNvSpPr/>
          <p:nvPr/>
        </p:nvSpPr>
        <p:spPr>
          <a:xfrm>
            <a:off x="5361219" y="5097414"/>
            <a:ext cx="1469258" cy="299557"/>
          </a:xfrm>
          <a:prstGeom prst="roundRect">
            <a:avLst>
              <a:gd name="adj" fmla="val 19048"/>
            </a:avLst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446806" y="5133076"/>
            <a:ext cx="855878" cy="128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2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 PM</a:t>
            </a:r>
            <a:endParaRPr lang="en-US" sz="702" dirty="0"/>
          </a:p>
        </p:txBody>
      </p:sp>
      <p:sp>
        <p:nvSpPr>
          <p:cNvPr id="110" name="Text 108"/>
          <p:cNvSpPr/>
          <p:nvPr/>
        </p:nvSpPr>
        <p:spPr>
          <a:xfrm>
            <a:off x="5446806" y="5254325"/>
            <a:ext cx="855878" cy="9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7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appointment</a:t>
            </a:r>
            <a:endParaRPr lang="en-US" sz="507" dirty="0"/>
          </a:p>
        </p:txBody>
      </p:sp>
      <p:sp>
        <p:nvSpPr>
          <p:cNvPr id="111" name="Text 109"/>
          <p:cNvSpPr/>
          <p:nvPr/>
        </p:nvSpPr>
        <p:spPr>
          <a:xfrm>
            <a:off x="6687830" y="5168737"/>
            <a:ext cx="14264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936" dirty="0"/>
          </a:p>
        </p:txBody>
      </p:sp>
      <p:sp>
        <p:nvSpPr>
          <p:cNvPr id="112" name="Shape 110"/>
          <p:cNvSpPr/>
          <p:nvPr/>
        </p:nvSpPr>
        <p:spPr>
          <a:xfrm>
            <a:off x="5361219" y="5454030"/>
            <a:ext cx="1469258" cy="299557"/>
          </a:xfrm>
          <a:prstGeom prst="roundRect">
            <a:avLst>
              <a:gd name="adj" fmla="val 19048"/>
            </a:avLst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446806" y="5489692"/>
            <a:ext cx="855878" cy="128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2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 PM</a:t>
            </a:r>
            <a:endParaRPr lang="en-US" sz="702" dirty="0"/>
          </a:p>
        </p:txBody>
      </p:sp>
      <p:sp>
        <p:nvSpPr>
          <p:cNvPr id="114" name="Text 112"/>
          <p:cNvSpPr/>
          <p:nvPr/>
        </p:nvSpPr>
        <p:spPr>
          <a:xfrm>
            <a:off x="5446806" y="5610941"/>
            <a:ext cx="855878" cy="9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7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appointment</a:t>
            </a:r>
            <a:endParaRPr lang="en-US" sz="507" dirty="0"/>
          </a:p>
        </p:txBody>
      </p:sp>
      <p:sp>
        <p:nvSpPr>
          <p:cNvPr id="115" name="Text 113"/>
          <p:cNvSpPr/>
          <p:nvPr/>
        </p:nvSpPr>
        <p:spPr>
          <a:xfrm>
            <a:off x="6687830" y="5525353"/>
            <a:ext cx="14264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936" dirty="0"/>
          </a:p>
        </p:txBody>
      </p:sp>
      <p:sp>
        <p:nvSpPr>
          <p:cNvPr id="116" name="Text 114"/>
          <p:cNvSpPr/>
          <p:nvPr/>
        </p:nvSpPr>
        <p:spPr>
          <a:xfrm>
            <a:off x="5021428" y="6137453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100" dirty="0"/>
          </a:p>
        </p:txBody>
      </p:sp>
      <p:sp>
        <p:nvSpPr>
          <p:cNvPr id="117" name="Shape 115"/>
          <p:cNvSpPr/>
          <p:nvPr/>
        </p:nvSpPr>
        <p:spPr>
          <a:xfrm>
            <a:off x="7261708" y="2194560"/>
            <a:ext cx="1783080" cy="3851453"/>
          </a:xfrm>
          <a:prstGeom prst="roundRect">
            <a:avLst>
              <a:gd name="adj" fmla="val 8800"/>
            </a:avLst>
          </a:prstGeom>
          <a:solidFill>
            <a:srgbClr val="1F2330"/>
          </a:solidFill>
          <a:ln w="15240">
            <a:solidFill>
              <a:srgbClr val="3A4055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311634" y="2244486"/>
            <a:ext cx="1683228" cy="3751600"/>
          </a:xfrm>
          <a:prstGeom prst="roundRect">
            <a:avLst>
              <a:gd name="adj" fmla="val 7627"/>
            </a:avLst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832293" y="2280148"/>
            <a:ext cx="641909" cy="12838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418619" y="2472720"/>
            <a:ext cx="21397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2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092" dirty="0"/>
          </a:p>
        </p:txBody>
      </p:sp>
      <p:sp>
        <p:nvSpPr>
          <p:cNvPr id="121" name="Text 119"/>
          <p:cNvSpPr/>
          <p:nvPr/>
        </p:nvSpPr>
        <p:spPr>
          <a:xfrm>
            <a:off x="7632588" y="2472720"/>
            <a:ext cx="1426464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4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Booking</a:t>
            </a:r>
            <a:endParaRPr lang="en-US" sz="1014" dirty="0"/>
          </a:p>
        </p:txBody>
      </p:sp>
      <p:sp>
        <p:nvSpPr>
          <p:cNvPr id="122" name="Shape 120"/>
          <p:cNvSpPr/>
          <p:nvPr/>
        </p:nvSpPr>
        <p:spPr>
          <a:xfrm>
            <a:off x="7418619" y="2922057"/>
            <a:ext cx="1469258" cy="1711757"/>
          </a:xfrm>
          <a:prstGeom prst="roundRect">
            <a:avLst>
              <a:gd name="adj" fmla="val 3883"/>
            </a:avLst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7504206" y="3007644"/>
            <a:ext cx="1069848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2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Details</a:t>
            </a:r>
            <a:endParaRPr lang="en-US" sz="702" dirty="0"/>
          </a:p>
        </p:txBody>
      </p:sp>
      <p:sp>
        <p:nvSpPr>
          <p:cNvPr id="124" name="Shape 122"/>
          <p:cNvSpPr/>
          <p:nvPr/>
        </p:nvSpPr>
        <p:spPr>
          <a:xfrm>
            <a:off x="7504206" y="3193085"/>
            <a:ext cx="242499" cy="242499"/>
          </a:xfrm>
          <a:prstGeom prst="roundRect">
            <a:avLst>
              <a:gd name="adj" fmla="val 50000"/>
            </a:avLst>
          </a:prstGeom>
          <a:solidFill>
            <a:srgbClr val="D4A547"/>
          </a:solidFill>
          <a:ln w="12700">
            <a:solidFill>
              <a:srgbClr val="D4A547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7810896" y="3178820"/>
            <a:ext cx="998525" cy="114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7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Barber</a:t>
            </a:r>
            <a:endParaRPr lang="en-US" sz="507" dirty="0"/>
          </a:p>
        </p:txBody>
      </p:sp>
      <p:sp>
        <p:nvSpPr>
          <p:cNvPr id="126" name="Text 124"/>
          <p:cNvSpPr/>
          <p:nvPr/>
        </p:nvSpPr>
        <p:spPr>
          <a:xfrm>
            <a:off x="7810896" y="3278673"/>
            <a:ext cx="998525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2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Terry Davis</a:t>
            </a:r>
            <a:endParaRPr lang="en-US" sz="702" dirty="0"/>
          </a:p>
        </p:txBody>
      </p:sp>
      <p:sp>
        <p:nvSpPr>
          <p:cNvPr id="127" name="Shape 125"/>
          <p:cNvSpPr/>
          <p:nvPr/>
        </p:nvSpPr>
        <p:spPr>
          <a:xfrm>
            <a:off x="7525603" y="3535436"/>
            <a:ext cx="199705" cy="199705"/>
          </a:xfrm>
          <a:prstGeom prst="roundRect">
            <a:avLst>
              <a:gd name="adj" fmla="val 17857"/>
            </a:avLst>
          </a:prstGeom>
          <a:solidFill>
            <a:srgbClr val="242938"/>
          </a:solidFill>
          <a:ln w="12700">
            <a:solidFill>
              <a:srgbClr val="242938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7810896" y="3514039"/>
            <a:ext cx="1069848" cy="114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7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&amp; Time</a:t>
            </a:r>
            <a:endParaRPr lang="en-US" sz="507" dirty="0"/>
          </a:p>
        </p:txBody>
      </p:sp>
      <p:sp>
        <p:nvSpPr>
          <p:cNvPr id="129" name="Text 127"/>
          <p:cNvSpPr/>
          <p:nvPr/>
        </p:nvSpPr>
        <p:spPr>
          <a:xfrm>
            <a:off x="7810896" y="3613892"/>
            <a:ext cx="1069848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3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18, 2026 · 1:00 PM</a:t>
            </a:r>
            <a:endParaRPr lang="en-US" sz="663" dirty="0"/>
          </a:p>
        </p:txBody>
      </p:sp>
      <p:sp>
        <p:nvSpPr>
          <p:cNvPr id="130" name="Shape 128"/>
          <p:cNvSpPr/>
          <p:nvPr/>
        </p:nvSpPr>
        <p:spPr>
          <a:xfrm>
            <a:off x="7525603" y="3827861"/>
            <a:ext cx="199705" cy="199705"/>
          </a:xfrm>
          <a:prstGeom prst="roundRect">
            <a:avLst>
              <a:gd name="adj" fmla="val 17857"/>
            </a:avLst>
          </a:prstGeom>
          <a:solidFill>
            <a:srgbClr val="242938"/>
          </a:solidFill>
          <a:ln w="12700">
            <a:solidFill>
              <a:srgbClr val="242938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7810896" y="3806464"/>
            <a:ext cx="1069848" cy="114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7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507" dirty="0"/>
          </a:p>
        </p:txBody>
      </p:sp>
      <p:sp>
        <p:nvSpPr>
          <p:cNvPr id="132" name="Text 130"/>
          <p:cNvSpPr/>
          <p:nvPr/>
        </p:nvSpPr>
        <p:spPr>
          <a:xfrm>
            <a:off x="7810896" y="3906317"/>
            <a:ext cx="1069848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2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Minutes</a:t>
            </a:r>
            <a:endParaRPr lang="en-US" sz="702" dirty="0"/>
          </a:p>
        </p:txBody>
      </p:sp>
      <p:sp>
        <p:nvSpPr>
          <p:cNvPr id="133" name="Shape 131"/>
          <p:cNvSpPr/>
          <p:nvPr/>
        </p:nvSpPr>
        <p:spPr>
          <a:xfrm>
            <a:off x="7525603" y="4120286"/>
            <a:ext cx="199705" cy="199705"/>
          </a:xfrm>
          <a:prstGeom prst="roundRect">
            <a:avLst>
              <a:gd name="adj" fmla="val 17857"/>
            </a:avLst>
          </a:prstGeom>
          <a:solidFill>
            <a:srgbClr val="242938"/>
          </a:solidFill>
          <a:ln w="12700">
            <a:solidFill>
              <a:srgbClr val="242938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7810896" y="4098889"/>
            <a:ext cx="1069848" cy="114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7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507" dirty="0"/>
          </a:p>
        </p:txBody>
      </p:sp>
      <p:sp>
        <p:nvSpPr>
          <p:cNvPr id="135" name="Text 133"/>
          <p:cNvSpPr/>
          <p:nvPr/>
        </p:nvSpPr>
        <p:spPr>
          <a:xfrm>
            <a:off x="7810896" y="4198742"/>
            <a:ext cx="1069848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2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</a:t>
            </a:r>
            <a:endParaRPr lang="en-US" sz="702" dirty="0"/>
          </a:p>
        </p:txBody>
      </p:sp>
      <p:sp>
        <p:nvSpPr>
          <p:cNvPr id="136" name="Shape 134"/>
          <p:cNvSpPr/>
          <p:nvPr/>
        </p:nvSpPr>
        <p:spPr>
          <a:xfrm>
            <a:off x="7525603" y="4384182"/>
            <a:ext cx="199705" cy="199705"/>
          </a:xfrm>
          <a:prstGeom prst="roundRect">
            <a:avLst>
              <a:gd name="adj" fmla="val 17857"/>
            </a:avLst>
          </a:prstGeom>
          <a:solidFill>
            <a:srgbClr val="242938"/>
          </a:solidFill>
          <a:ln w="12700">
            <a:solidFill>
              <a:srgbClr val="242938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7810896" y="4362785"/>
            <a:ext cx="1069848" cy="114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7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507" dirty="0"/>
          </a:p>
        </p:txBody>
      </p:sp>
      <p:sp>
        <p:nvSpPr>
          <p:cNvPr id="138" name="Text 136"/>
          <p:cNvSpPr/>
          <p:nvPr/>
        </p:nvSpPr>
        <p:spPr>
          <a:xfrm>
            <a:off x="7810896" y="4462638"/>
            <a:ext cx="1069848" cy="128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4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CSUN Barber Shop</a:t>
            </a:r>
            <a:endParaRPr lang="en-US" sz="624" dirty="0"/>
          </a:p>
        </p:txBody>
      </p:sp>
      <p:sp>
        <p:nvSpPr>
          <p:cNvPr id="139" name="Shape 137"/>
          <p:cNvSpPr/>
          <p:nvPr/>
        </p:nvSpPr>
        <p:spPr>
          <a:xfrm>
            <a:off x="7418619" y="4847783"/>
            <a:ext cx="1469258" cy="328087"/>
          </a:xfrm>
          <a:prstGeom prst="roundRect">
            <a:avLst>
              <a:gd name="adj" fmla="val 1739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7418619" y="4847783"/>
            <a:ext cx="1469258" cy="328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Appointment</a:t>
            </a:r>
            <a:endParaRPr lang="en-US" sz="780" dirty="0"/>
          </a:p>
        </p:txBody>
      </p:sp>
      <p:sp>
        <p:nvSpPr>
          <p:cNvPr id="141" name="Shape 139"/>
          <p:cNvSpPr/>
          <p:nvPr/>
        </p:nvSpPr>
        <p:spPr>
          <a:xfrm>
            <a:off x="7418619" y="5275722"/>
            <a:ext cx="1469258" cy="328087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7418619" y="5275722"/>
            <a:ext cx="1469258" cy="328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Time</a:t>
            </a:r>
            <a:endParaRPr lang="en-US" sz="780" dirty="0"/>
          </a:p>
        </p:txBody>
      </p:sp>
      <p:sp>
        <p:nvSpPr>
          <p:cNvPr id="143" name="Text 141"/>
          <p:cNvSpPr/>
          <p:nvPr/>
        </p:nvSpPr>
        <p:spPr>
          <a:xfrm>
            <a:off x="7078828" y="6137453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100" dirty="0"/>
          </a:p>
        </p:txBody>
      </p:sp>
      <p:sp>
        <p:nvSpPr>
          <p:cNvPr id="144" name="Shape 142"/>
          <p:cNvSpPr/>
          <p:nvPr/>
        </p:nvSpPr>
        <p:spPr>
          <a:xfrm>
            <a:off x="9319108" y="2194560"/>
            <a:ext cx="1783080" cy="3851453"/>
          </a:xfrm>
          <a:prstGeom prst="roundRect">
            <a:avLst>
              <a:gd name="adj" fmla="val 8800"/>
            </a:avLst>
          </a:prstGeom>
          <a:solidFill>
            <a:srgbClr val="1F2330"/>
          </a:solidFill>
          <a:ln w="15240">
            <a:solidFill>
              <a:srgbClr val="3A4055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9369034" y="2244486"/>
            <a:ext cx="1683228" cy="3751600"/>
          </a:xfrm>
          <a:prstGeom prst="roundRect">
            <a:avLst>
              <a:gd name="adj" fmla="val 7627"/>
            </a:avLst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9889693" y="2280148"/>
            <a:ext cx="641909" cy="12838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9476019" y="2472720"/>
            <a:ext cx="21397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2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092" dirty="0"/>
          </a:p>
        </p:txBody>
      </p:sp>
      <p:sp>
        <p:nvSpPr>
          <p:cNvPr id="148" name="Text 146"/>
          <p:cNvSpPr/>
          <p:nvPr/>
        </p:nvSpPr>
        <p:spPr>
          <a:xfrm>
            <a:off x="9689988" y="2472720"/>
            <a:ext cx="1426464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6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Details</a:t>
            </a:r>
            <a:endParaRPr lang="en-US" sz="936" dirty="0"/>
          </a:p>
        </p:txBody>
      </p:sp>
      <p:sp>
        <p:nvSpPr>
          <p:cNvPr id="149" name="Shape 147"/>
          <p:cNvSpPr/>
          <p:nvPr/>
        </p:nvSpPr>
        <p:spPr>
          <a:xfrm>
            <a:off x="9925355" y="2922057"/>
            <a:ext cx="499262" cy="499262"/>
          </a:xfrm>
          <a:prstGeom prst="roundRect">
            <a:avLst>
              <a:gd name="adj" fmla="val 50000"/>
            </a:avLst>
          </a:prstGeom>
          <a:solidFill>
            <a:srgbClr val="D4A547"/>
          </a:solidFill>
          <a:ln w="12700">
            <a:solidFill>
              <a:srgbClr val="D4A547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9476019" y="3456981"/>
            <a:ext cx="1469258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Terry Davis</a:t>
            </a:r>
            <a:endParaRPr lang="en-US" sz="1092" dirty="0"/>
          </a:p>
        </p:txBody>
      </p:sp>
      <p:sp>
        <p:nvSpPr>
          <p:cNvPr id="151" name="Text 149"/>
          <p:cNvSpPr/>
          <p:nvPr/>
        </p:nvSpPr>
        <p:spPr>
          <a:xfrm>
            <a:off x="9476019" y="3670950"/>
            <a:ext cx="1469258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4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Barber</a:t>
            </a:r>
            <a:endParaRPr lang="en-US" sz="624" dirty="0"/>
          </a:p>
        </p:txBody>
      </p:sp>
      <p:sp>
        <p:nvSpPr>
          <p:cNvPr id="152" name="Shape 150"/>
          <p:cNvSpPr/>
          <p:nvPr/>
        </p:nvSpPr>
        <p:spPr>
          <a:xfrm>
            <a:off x="9476019" y="3884920"/>
            <a:ext cx="1469258" cy="713232"/>
          </a:xfrm>
          <a:prstGeom prst="roundRect">
            <a:avLst>
              <a:gd name="adj" fmla="val 8000"/>
            </a:avLst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9476019" y="3927714"/>
            <a:ext cx="146925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28" b="1" dirty="0">
                <a:solidFill>
                  <a:srgbClr val="F4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00:43:27</a:t>
            </a:r>
            <a:endParaRPr lang="en-US" sz="2028" dirty="0"/>
          </a:p>
        </p:txBody>
      </p:sp>
      <p:sp>
        <p:nvSpPr>
          <p:cNvPr id="154" name="Text 152"/>
          <p:cNvSpPr/>
          <p:nvPr/>
        </p:nvSpPr>
        <p:spPr>
          <a:xfrm>
            <a:off x="9561606" y="4327124"/>
            <a:ext cx="855878" cy="114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6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Remaining</a:t>
            </a:r>
            <a:endParaRPr lang="en-US" sz="546" dirty="0"/>
          </a:p>
        </p:txBody>
      </p:sp>
      <p:sp>
        <p:nvSpPr>
          <p:cNvPr id="155" name="Text 153"/>
          <p:cNvSpPr/>
          <p:nvPr/>
        </p:nvSpPr>
        <p:spPr>
          <a:xfrm>
            <a:off x="10624322" y="4327124"/>
            <a:ext cx="356616" cy="114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6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min</a:t>
            </a:r>
            <a:endParaRPr lang="en-US" sz="546" dirty="0"/>
          </a:p>
        </p:txBody>
      </p:sp>
      <p:sp>
        <p:nvSpPr>
          <p:cNvPr id="156" name="Shape 154"/>
          <p:cNvSpPr/>
          <p:nvPr/>
        </p:nvSpPr>
        <p:spPr>
          <a:xfrm>
            <a:off x="9561606" y="4469770"/>
            <a:ext cx="1298082" cy="42794"/>
          </a:xfrm>
          <a:prstGeom prst="roundRect">
            <a:avLst>
              <a:gd name="adj" fmla="val 50000"/>
            </a:avLst>
          </a:prstGeom>
          <a:solidFill>
            <a:srgbClr val="242938"/>
          </a:solidFill>
          <a:ln w="12700">
            <a:solidFill>
              <a:srgbClr val="242938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9561606" y="4469770"/>
            <a:ext cx="713945" cy="4279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9476019" y="4705137"/>
            <a:ext cx="1469258" cy="998525"/>
          </a:xfrm>
          <a:prstGeom prst="roundRect">
            <a:avLst>
              <a:gd name="adj" fmla="val 5714"/>
            </a:avLst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9561606" y="4819254"/>
            <a:ext cx="156911" cy="156911"/>
          </a:xfrm>
          <a:prstGeom prst="roundRect">
            <a:avLst>
              <a:gd name="adj" fmla="val 18182"/>
            </a:avLst>
          </a:prstGeom>
          <a:solidFill>
            <a:srgbClr val="242938"/>
          </a:solidFill>
          <a:ln w="12700">
            <a:solidFill>
              <a:srgbClr val="242938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9761311" y="4790724"/>
            <a:ext cx="855878" cy="114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7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Apr 18</a:t>
            </a:r>
            <a:endParaRPr lang="en-US" sz="507" dirty="0"/>
          </a:p>
        </p:txBody>
      </p:sp>
      <p:sp>
        <p:nvSpPr>
          <p:cNvPr id="161" name="Text 159"/>
          <p:cNvSpPr/>
          <p:nvPr/>
        </p:nvSpPr>
        <p:spPr>
          <a:xfrm>
            <a:off x="9761311" y="4904842"/>
            <a:ext cx="998525" cy="128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3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 PM</a:t>
            </a:r>
            <a:endParaRPr lang="en-US" sz="663" dirty="0"/>
          </a:p>
        </p:txBody>
      </p:sp>
      <p:sp>
        <p:nvSpPr>
          <p:cNvPr id="162" name="Shape 160"/>
          <p:cNvSpPr/>
          <p:nvPr/>
        </p:nvSpPr>
        <p:spPr>
          <a:xfrm>
            <a:off x="9561606" y="5118811"/>
            <a:ext cx="156911" cy="156911"/>
          </a:xfrm>
          <a:prstGeom prst="roundRect">
            <a:avLst>
              <a:gd name="adj" fmla="val 18182"/>
            </a:avLst>
          </a:prstGeom>
          <a:solidFill>
            <a:srgbClr val="242938"/>
          </a:solidFill>
          <a:ln w="12700">
            <a:solidFill>
              <a:srgbClr val="242938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9761311" y="5090282"/>
            <a:ext cx="855878" cy="114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7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507" dirty="0"/>
          </a:p>
        </p:txBody>
      </p:sp>
      <p:sp>
        <p:nvSpPr>
          <p:cNvPr id="164" name="Text 162"/>
          <p:cNvSpPr/>
          <p:nvPr/>
        </p:nvSpPr>
        <p:spPr>
          <a:xfrm>
            <a:off x="9761311" y="5204399"/>
            <a:ext cx="998525" cy="128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3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Minutes</a:t>
            </a:r>
            <a:endParaRPr lang="en-US" sz="663" dirty="0"/>
          </a:p>
        </p:txBody>
      </p:sp>
      <p:sp>
        <p:nvSpPr>
          <p:cNvPr id="165" name="Shape 163"/>
          <p:cNvSpPr/>
          <p:nvPr/>
        </p:nvSpPr>
        <p:spPr>
          <a:xfrm>
            <a:off x="9561606" y="5418369"/>
            <a:ext cx="156911" cy="156911"/>
          </a:xfrm>
          <a:prstGeom prst="roundRect">
            <a:avLst>
              <a:gd name="adj" fmla="val 18182"/>
            </a:avLst>
          </a:prstGeom>
          <a:solidFill>
            <a:srgbClr val="242938"/>
          </a:solidFill>
          <a:ln w="12700">
            <a:solidFill>
              <a:srgbClr val="242938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9761311" y="5389839"/>
            <a:ext cx="855878" cy="114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7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507" dirty="0"/>
          </a:p>
        </p:txBody>
      </p:sp>
      <p:sp>
        <p:nvSpPr>
          <p:cNvPr id="167" name="Text 165"/>
          <p:cNvSpPr/>
          <p:nvPr/>
        </p:nvSpPr>
        <p:spPr>
          <a:xfrm>
            <a:off x="9761311" y="5503956"/>
            <a:ext cx="998525" cy="128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3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</a:t>
            </a:r>
            <a:endParaRPr lang="en-US" sz="663" dirty="0"/>
          </a:p>
        </p:txBody>
      </p:sp>
      <p:sp>
        <p:nvSpPr>
          <p:cNvPr id="168" name="Shape 166"/>
          <p:cNvSpPr/>
          <p:nvPr/>
        </p:nvSpPr>
        <p:spPr>
          <a:xfrm>
            <a:off x="9476019" y="5810646"/>
            <a:ext cx="430317" cy="356616"/>
          </a:xfrm>
          <a:prstGeom prst="roundRect">
            <a:avLst>
              <a:gd name="adj" fmla="val 12000"/>
            </a:avLst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9476019" y="5810646"/>
            <a:ext cx="430317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6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Directions</a:t>
            </a:r>
            <a:endParaRPr lang="en-US" sz="546" dirty="0"/>
          </a:p>
        </p:txBody>
      </p:sp>
      <p:sp>
        <p:nvSpPr>
          <p:cNvPr id="170" name="Shape 168"/>
          <p:cNvSpPr/>
          <p:nvPr/>
        </p:nvSpPr>
        <p:spPr>
          <a:xfrm>
            <a:off x="9963394" y="5810646"/>
            <a:ext cx="430317" cy="356616"/>
          </a:xfrm>
          <a:prstGeom prst="roundRect">
            <a:avLst>
              <a:gd name="adj" fmla="val 12000"/>
            </a:avLst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9963394" y="5810646"/>
            <a:ext cx="430317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6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546" dirty="0"/>
          </a:p>
        </p:txBody>
      </p:sp>
      <p:sp>
        <p:nvSpPr>
          <p:cNvPr id="172" name="Shape 170"/>
          <p:cNvSpPr/>
          <p:nvPr/>
        </p:nvSpPr>
        <p:spPr>
          <a:xfrm>
            <a:off x="10450769" y="5810646"/>
            <a:ext cx="430317" cy="356616"/>
          </a:xfrm>
          <a:prstGeom prst="roundRect">
            <a:avLst>
              <a:gd name="adj" fmla="val 12000"/>
            </a:avLst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10450769" y="5810646"/>
            <a:ext cx="430317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6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546" dirty="0"/>
          </a:p>
        </p:txBody>
      </p:sp>
      <p:sp>
        <p:nvSpPr>
          <p:cNvPr id="174" name="Text 172"/>
          <p:cNvSpPr/>
          <p:nvPr/>
        </p:nvSpPr>
        <p:spPr>
          <a:xfrm>
            <a:off x="9136228" y="6137453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100" dirty="0"/>
          </a:p>
        </p:txBody>
      </p:sp>
      <p:sp>
        <p:nvSpPr>
          <p:cNvPr id="175" name="Text 173"/>
          <p:cNvSpPr/>
          <p:nvPr/>
        </p:nvSpPr>
        <p:spPr>
          <a:xfrm>
            <a:off x="2826868" y="3845966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547"/>
                </a:solidFill>
              </a:rPr>
              <a:t>&gt;</a:t>
            </a:r>
            <a:endParaRPr lang="en-US" sz="2800" dirty="0"/>
          </a:p>
        </p:txBody>
      </p:sp>
      <p:sp>
        <p:nvSpPr>
          <p:cNvPr id="176" name="Text 174"/>
          <p:cNvSpPr/>
          <p:nvPr/>
        </p:nvSpPr>
        <p:spPr>
          <a:xfrm>
            <a:off x="4884268" y="3845966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547"/>
                </a:solidFill>
              </a:rPr>
              <a:t>&gt;</a:t>
            </a:r>
            <a:endParaRPr lang="en-US" sz="2800" dirty="0"/>
          </a:p>
        </p:txBody>
      </p:sp>
      <p:sp>
        <p:nvSpPr>
          <p:cNvPr id="177" name="Text 175"/>
          <p:cNvSpPr/>
          <p:nvPr/>
        </p:nvSpPr>
        <p:spPr>
          <a:xfrm>
            <a:off x="6941668" y="3845966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547"/>
                </a:solidFill>
              </a:rPr>
              <a:t>&gt;</a:t>
            </a:r>
            <a:endParaRPr lang="en-US" sz="2800" dirty="0"/>
          </a:p>
        </p:txBody>
      </p:sp>
      <p:sp>
        <p:nvSpPr>
          <p:cNvPr id="178" name="Text 176"/>
          <p:cNvSpPr/>
          <p:nvPr/>
        </p:nvSpPr>
        <p:spPr>
          <a:xfrm>
            <a:off x="8999068" y="3845966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547"/>
                </a:solidFill>
              </a:rPr>
              <a:t>&gt;</a:t>
            </a:r>
            <a:endParaRPr lang="en-US" sz="2800" dirty="0"/>
          </a:p>
        </p:txBody>
      </p:sp>
      <p:sp>
        <p:nvSpPr>
          <p:cNvPr id="179" name="Text 17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CutQ  ·  HCI Final  ·  Group 8</a:t>
            </a:r>
            <a:endParaRPr lang="en-US" sz="900" dirty="0"/>
          </a:p>
        </p:txBody>
      </p:sp>
      <p:sp>
        <p:nvSpPr>
          <p:cNvPr id="180" name="Text 178"/>
          <p:cNvSpPr/>
          <p:nvPr/>
        </p:nvSpPr>
        <p:spPr>
          <a:xfrm>
            <a:off x="1109441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292608"/>
          </a:xfrm>
          <a:prstGeom prst="rect">
            <a:avLst/>
          </a:prstGeom>
          <a:solidFill>
            <a:srgbClr val="D4A547"/>
          </a:solidFill>
          <a:ln w="12700">
            <a:solidFill>
              <a:srgbClr val="D4A5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BARBER SIDE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dashboard built for between-cuts glances.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Three-second answers to the only questions that matter mid-shift.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1920240" cy="4147718"/>
          </a:xfrm>
          <a:prstGeom prst="roundRect">
            <a:avLst>
              <a:gd name="adj" fmla="val 8800"/>
            </a:avLst>
          </a:prstGeom>
          <a:solidFill>
            <a:srgbClr val="1F2330"/>
          </a:solidFill>
          <a:ln w="15240">
            <a:solidFill>
              <a:srgbClr val="3A40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3847" y="2065447"/>
            <a:ext cx="1812707" cy="4040185"/>
          </a:xfrm>
          <a:prstGeom prst="roundRect">
            <a:avLst>
              <a:gd name="adj" fmla="val 7627"/>
            </a:avLst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54557" y="2103852"/>
            <a:ext cx="691286" cy="138257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061" y="2311237"/>
            <a:ext cx="1382573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4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44" dirty="0"/>
          </a:p>
        </p:txBody>
      </p:sp>
      <p:sp>
        <p:nvSpPr>
          <p:cNvPr id="10" name="Shape 8"/>
          <p:cNvSpPr/>
          <p:nvPr/>
        </p:nvSpPr>
        <p:spPr>
          <a:xfrm>
            <a:off x="2199315" y="2334280"/>
            <a:ext cx="153619" cy="153619"/>
          </a:xfrm>
          <a:prstGeom prst="roundRect">
            <a:avLst>
              <a:gd name="adj" fmla="val 20000"/>
            </a:avLst>
          </a:prstGeom>
          <a:solidFill>
            <a:srgbClr val="242938"/>
          </a:solidFill>
          <a:ln w="12700">
            <a:solidFill>
              <a:srgbClr val="2429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9061" y="2718328"/>
            <a:ext cx="1582278" cy="1075334"/>
          </a:xfrm>
          <a:prstGeom prst="roundRect">
            <a:avLst>
              <a:gd name="adj" fmla="val 5714"/>
            </a:avLst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68886" y="2795138"/>
            <a:ext cx="422453" cy="138257"/>
          </a:xfrm>
          <a:prstGeom prst="roundRect">
            <a:avLst>
              <a:gd name="adj" fmla="val 50000"/>
            </a:avLst>
          </a:prstGeom>
          <a:solidFill>
            <a:srgbClr val="242938"/>
          </a:solidFill>
          <a:ln w="12700">
            <a:solidFill>
              <a:srgbClr val="2429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8886" y="2795138"/>
            <a:ext cx="422453" cy="138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4" b="1" dirty="0">
                <a:solidFill>
                  <a:srgbClr val="D4A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504" dirty="0"/>
          </a:p>
        </p:txBody>
      </p:sp>
      <p:sp>
        <p:nvSpPr>
          <p:cNvPr id="14" name="Text 12"/>
          <p:cNvSpPr/>
          <p:nvPr/>
        </p:nvSpPr>
        <p:spPr>
          <a:xfrm>
            <a:off x="901233" y="2795138"/>
            <a:ext cx="1152144" cy="122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8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Client</a:t>
            </a:r>
            <a:endParaRPr lang="en-US" sz="588" dirty="0"/>
          </a:p>
        </p:txBody>
      </p:sp>
      <p:sp>
        <p:nvSpPr>
          <p:cNvPr id="15" name="Text 13"/>
          <p:cNvSpPr/>
          <p:nvPr/>
        </p:nvSpPr>
        <p:spPr>
          <a:xfrm>
            <a:off x="901233" y="2933395"/>
            <a:ext cx="1228954" cy="168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4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Jordan</a:t>
            </a:r>
            <a:endParaRPr lang="en-US" sz="924" dirty="0"/>
          </a:p>
        </p:txBody>
      </p:sp>
      <p:sp>
        <p:nvSpPr>
          <p:cNvPr id="16" name="Shape 14"/>
          <p:cNvSpPr/>
          <p:nvPr/>
        </p:nvSpPr>
        <p:spPr>
          <a:xfrm>
            <a:off x="901233" y="3156143"/>
            <a:ext cx="1397935" cy="307238"/>
          </a:xfrm>
          <a:prstGeom prst="roundRect">
            <a:avLst>
              <a:gd name="adj" fmla="val 15000"/>
            </a:avLst>
          </a:prstGeom>
          <a:solidFill>
            <a:srgbClr val="242938"/>
          </a:solidFill>
          <a:ln w="12700">
            <a:solidFill>
              <a:srgbClr val="2429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2680" y="3156143"/>
            <a:ext cx="1382573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6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since 2024 · Prefers product.</a:t>
            </a:r>
            <a:endParaRPr lang="en-US" sz="546" dirty="0"/>
          </a:p>
        </p:txBody>
      </p:sp>
      <p:sp>
        <p:nvSpPr>
          <p:cNvPr id="18" name="Text 16"/>
          <p:cNvSpPr/>
          <p:nvPr/>
        </p:nvSpPr>
        <p:spPr>
          <a:xfrm>
            <a:off x="901233" y="3540191"/>
            <a:ext cx="768096" cy="122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6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Remaining</a:t>
            </a:r>
            <a:endParaRPr lang="en-US" sz="546" dirty="0"/>
          </a:p>
        </p:txBody>
      </p:sp>
      <p:sp>
        <p:nvSpPr>
          <p:cNvPr id="19" name="Text 17"/>
          <p:cNvSpPr/>
          <p:nvPr/>
        </p:nvSpPr>
        <p:spPr>
          <a:xfrm>
            <a:off x="2045696" y="3540191"/>
            <a:ext cx="384048" cy="122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6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min</a:t>
            </a:r>
            <a:endParaRPr lang="en-US" sz="546" dirty="0"/>
          </a:p>
        </p:txBody>
      </p:sp>
      <p:sp>
        <p:nvSpPr>
          <p:cNvPr id="20" name="Shape 18"/>
          <p:cNvSpPr/>
          <p:nvPr/>
        </p:nvSpPr>
        <p:spPr>
          <a:xfrm>
            <a:off x="901233" y="3678448"/>
            <a:ext cx="1397935" cy="38405"/>
          </a:xfrm>
          <a:prstGeom prst="roundRect">
            <a:avLst>
              <a:gd name="adj" fmla="val 50000"/>
            </a:avLst>
          </a:prstGeom>
          <a:solidFill>
            <a:srgbClr val="242938"/>
          </a:solidFill>
          <a:ln w="12700">
            <a:solidFill>
              <a:srgbClr val="2429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1233" y="3678448"/>
            <a:ext cx="768864" cy="3840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9061" y="3908877"/>
            <a:ext cx="1582278" cy="1113739"/>
          </a:xfrm>
          <a:prstGeom prst="roundRect">
            <a:avLst>
              <a:gd name="adj" fmla="val 5517"/>
            </a:avLst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1233" y="3985687"/>
            <a:ext cx="1382573" cy="138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6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Business</a:t>
            </a:r>
            <a:endParaRPr lang="en-US" sz="756" dirty="0"/>
          </a:p>
        </p:txBody>
      </p:sp>
      <p:sp>
        <p:nvSpPr>
          <p:cNvPr id="24" name="Shape 22"/>
          <p:cNvSpPr/>
          <p:nvPr/>
        </p:nvSpPr>
        <p:spPr>
          <a:xfrm>
            <a:off x="901233" y="4200754"/>
            <a:ext cx="729691" cy="537667"/>
          </a:xfrm>
          <a:prstGeom prst="roundRect">
            <a:avLst>
              <a:gd name="adj" fmla="val 8571"/>
            </a:avLst>
          </a:prstGeom>
          <a:solidFill>
            <a:srgbClr val="242938"/>
          </a:solidFill>
          <a:ln w="12700">
            <a:solidFill>
              <a:srgbClr val="2429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1233" y="4231477"/>
            <a:ext cx="729691" cy="122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6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546" dirty="0"/>
          </a:p>
        </p:txBody>
      </p:sp>
      <p:sp>
        <p:nvSpPr>
          <p:cNvPr id="26" name="Text 24"/>
          <p:cNvSpPr/>
          <p:nvPr/>
        </p:nvSpPr>
        <p:spPr>
          <a:xfrm>
            <a:off x="901233" y="4369735"/>
            <a:ext cx="729691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cuts</a:t>
            </a:r>
            <a:endParaRPr lang="en-US" sz="1176" dirty="0"/>
          </a:p>
        </p:txBody>
      </p:sp>
      <p:sp>
        <p:nvSpPr>
          <p:cNvPr id="27" name="Shape 25"/>
          <p:cNvSpPr/>
          <p:nvPr/>
        </p:nvSpPr>
        <p:spPr>
          <a:xfrm>
            <a:off x="1669329" y="4200754"/>
            <a:ext cx="729691" cy="537667"/>
          </a:xfrm>
          <a:prstGeom prst="roundRect">
            <a:avLst>
              <a:gd name="adj" fmla="val 8571"/>
            </a:avLst>
          </a:prstGeom>
          <a:solidFill>
            <a:srgbClr val="242938"/>
          </a:solidFill>
          <a:ln w="12700">
            <a:solidFill>
              <a:srgbClr val="2429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69329" y="4231477"/>
            <a:ext cx="729691" cy="122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6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</a:t>
            </a:r>
            <a:endParaRPr lang="en-US" sz="546" dirty="0"/>
          </a:p>
        </p:txBody>
      </p:sp>
      <p:sp>
        <p:nvSpPr>
          <p:cNvPr id="29" name="Text 27"/>
          <p:cNvSpPr/>
          <p:nvPr/>
        </p:nvSpPr>
        <p:spPr>
          <a:xfrm>
            <a:off x="1669329" y="4369735"/>
            <a:ext cx="729691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$430</a:t>
            </a:r>
            <a:endParaRPr lang="en-US" sz="1176" dirty="0"/>
          </a:p>
        </p:txBody>
      </p:sp>
      <p:sp>
        <p:nvSpPr>
          <p:cNvPr id="30" name="Text 28"/>
          <p:cNvSpPr/>
          <p:nvPr/>
        </p:nvSpPr>
        <p:spPr>
          <a:xfrm>
            <a:off x="901233" y="4792188"/>
            <a:ext cx="768096" cy="107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4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Today</a:t>
            </a:r>
            <a:endParaRPr lang="en-US" sz="504" dirty="0"/>
          </a:p>
        </p:txBody>
      </p:sp>
      <p:sp>
        <p:nvSpPr>
          <p:cNvPr id="31" name="Text 29"/>
          <p:cNvSpPr/>
          <p:nvPr/>
        </p:nvSpPr>
        <p:spPr>
          <a:xfrm>
            <a:off x="901233" y="4892040"/>
            <a:ext cx="768096" cy="138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appointments</a:t>
            </a:r>
            <a:endParaRPr lang="en-US" sz="630" dirty="0"/>
          </a:p>
        </p:txBody>
      </p:sp>
      <p:sp>
        <p:nvSpPr>
          <p:cNvPr id="32" name="Text 30"/>
          <p:cNvSpPr/>
          <p:nvPr/>
        </p:nvSpPr>
        <p:spPr>
          <a:xfrm>
            <a:off x="1853672" y="4792188"/>
            <a:ext cx="537667" cy="107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4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504" dirty="0"/>
          </a:p>
        </p:txBody>
      </p:sp>
      <p:sp>
        <p:nvSpPr>
          <p:cNvPr id="33" name="Text 31"/>
          <p:cNvSpPr/>
          <p:nvPr/>
        </p:nvSpPr>
        <p:spPr>
          <a:xfrm>
            <a:off x="1853672" y="4892040"/>
            <a:ext cx="537667" cy="138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+$280</a:t>
            </a:r>
            <a:endParaRPr lang="en-US" sz="630" dirty="0"/>
          </a:p>
        </p:txBody>
      </p:sp>
      <p:sp>
        <p:nvSpPr>
          <p:cNvPr id="34" name="Text 32"/>
          <p:cNvSpPr/>
          <p:nvPr/>
        </p:nvSpPr>
        <p:spPr>
          <a:xfrm>
            <a:off x="809061" y="5122469"/>
            <a:ext cx="122895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6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Today</a:t>
            </a:r>
            <a:endParaRPr lang="en-US" sz="756" dirty="0"/>
          </a:p>
        </p:txBody>
      </p:sp>
      <p:sp>
        <p:nvSpPr>
          <p:cNvPr id="35" name="Text 33"/>
          <p:cNvSpPr/>
          <p:nvPr/>
        </p:nvSpPr>
        <p:spPr>
          <a:xfrm>
            <a:off x="1738457" y="5137831"/>
            <a:ext cx="652882" cy="122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4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appointments</a:t>
            </a:r>
            <a:endParaRPr lang="en-US" sz="504" dirty="0"/>
          </a:p>
        </p:txBody>
      </p:sp>
      <p:sp>
        <p:nvSpPr>
          <p:cNvPr id="36" name="Shape 34"/>
          <p:cNvSpPr/>
          <p:nvPr/>
        </p:nvSpPr>
        <p:spPr>
          <a:xfrm>
            <a:off x="809061" y="5329855"/>
            <a:ext cx="1582278" cy="307238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1233" y="5345217"/>
            <a:ext cx="1152144" cy="122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2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Jordan</a:t>
            </a:r>
            <a:endParaRPr lang="en-US" sz="672" dirty="0"/>
          </a:p>
        </p:txBody>
      </p:sp>
      <p:sp>
        <p:nvSpPr>
          <p:cNvPr id="38" name="Text 36"/>
          <p:cNvSpPr/>
          <p:nvPr/>
        </p:nvSpPr>
        <p:spPr>
          <a:xfrm>
            <a:off x="901233" y="5460431"/>
            <a:ext cx="1152144" cy="107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4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2:30 PM · 30 min</a:t>
            </a:r>
            <a:endParaRPr lang="en-US" sz="504" dirty="0"/>
          </a:p>
        </p:txBody>
      </p:sp>
      <p:sp>
        <p:nvSpPr>
          <p:cNvPr id="39" name="Shape 37"/>
          <p:cNvSpPr/>
          <p:nvPr/>
        </p:nvSpPr>
        <p:spPr>
          <a:xfrm>
            <a:off x="809061" y="5706222"/>
            <a:ext cx="1582278" cy="307238"/>
          </a:xfrm>
          <a:prstGeom prst="roundRect">
            <a:avLst>
              <a:gd name="adj" fmla="val 20000"/>
            </a:avLst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1233" y="5721584"/>
            <a:ext cx="1152144" cy="122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2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Lebron James</a:t>
            </a:r>
            <a:endParaRPr lang="en-US" sz="672" dirty="0"/>
          </a:p>
        </p:txBody>
      </p:sp>
      <p:sp>
        <p:nvSpPr>
          <p:cNvPr id="41" name="Text 39"/>
          <p:cNvSpPr/>
          <p:nvPr/>
        </p:nvSpPr>
        <p:spPr>
          <a:xfrm>
            <a:off x="901233" y="5836798"/>
            <a:ext cx="1152144" cy="107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4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 PM · 30 min</a:t>
            </a:r>
            <a:endParaRPr lang="en-US" sz="504" dirty="0"/>
          </a:p>
        </p:txBody>
      </p:sp>
      <p:sp>
        <p:nvSpPr>
          <p:cNvPr id="42" name="Shape 40"/>
          <p:cNvSpPr/>
          <p:nvPr/>
        </p:nvSpPr>
        <p:spPr>
          <a:xfrm>
            <a:off x="3931920" y="2148840"/>
            <a:ext cx="77724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931920" y="2148840"/>
            <a:ext cx="91440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06240" y="2286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Who's in the chair right now?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4206240" y="2697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</a:rPr>
              <a:t>Current Client card with progress bar — answers it in one glance.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931920" y="3474720"/>
            <a:ext cx="77724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931920" y="3474720"/>
            <a:ext cx="91440" cy="1143000"/>
          </a:xfrm>
          <a:prstGeom prst="rect">
            <a:avLst/>
          </a:prstGeom>
          <a:solidFill>
            <a:srgbClr val="D4A547"/>
          </a:solidFill>
          <a:ln w="12700">
            <a:solidFill>
              <a:srgbClr val="D4A54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06240" y="3611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 I on or off pace?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4206240" y="4023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</a:rPr>
              <a:t>Time-remaining + progress fill encode pace without numbers.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931920" y="4800600"/>
            <a:ext cx="77724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931920" y="4800600"/>
            <a:ext cx="91440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06240" y="4937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Did today pay off?</a:t>
            </a:r>
            <a:endParaRPr lang="en-US" sz="1700" dirty="0"/>
          </a:p>
        </p:txBody>
      </p:sp>
      <p:sp>
        <p:nvSpPr>
          <p:cNvPr id="53" name="Text 51"/>
          <p:cNvSpPr/>
          <p:nvPr/>
        </p:nvSpPr>
        <p:spPr>
          <a:xfrm>
            <a:off x="4206240" y="5349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</a:rPr>
              <a:t>Earnings stat tile + remaining expected = end-of-day visibility.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CutQ  ·  HCI Final  ·  Group 8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109441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292608"/>
          </a:xfrm>
          <a:prstGeom prst="rect">
            <a:avLst/>
          </a:prstGeom>
          <a:solidFill>
            <a:srgbClr val="D4A547"/>
          </a:solidFill>
          <a:ln w="12700">
            <a:solidFill>
              <a:srgbClr val="D4A5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D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FEATURE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Live Activity countdown.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0AD"/>
                </a:solidFill>
              </a:rPr>
              <a:t>A persistent lock-screen widget that turns appointments into something you can feel.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931920" cy="3931920"/>
          </a:xfrm>
          <a:prstGeom prst="roundRect">
            <a:avLst>
              <a:gd name="adj" fmla="val 5116"/>
            </a:avLst>
          </a:prstGeom>
          <a:solidFill>
            <a:srgbClr val="1F2330"/>
          </a:solidFill>
          <a:ln w="15240">
            <a:solidFill>
              <a:srgbClr val="3A40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2395728"/>
            <a:ext cx="3803904" cy="3803904"/>
          </a:xfrm>
          <a:prstGeom prst="roundRect">
            <a:avLst>
              <a:gd name="adj" fmla="val 4327"/>
            </a:avLst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9848" y="2852928"/>
            <a:ext cx="2662733" cy="1521562"/>
          </a:xfrm>
          <a:prstGeom prst="ellipse">
            <a:avLst/>
          </a:prstGeom>
          <a:solidFill>
            <a:srgbClr val="19A7CE">
              <a:alpha val="40000"/>
            </a:srgbClr>
          </a:solidFill>
          <a:ln w="12700">
            <a:solidFill>
              <a:srgbClr val="19A7C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" y="3917290"/>
            <a:ext cx="3043123" cy="1901952"/>
          </a:xfrm>
          <a:prstGeom prst="ellipse">
            <a:avLst/>
          </a:prstGeom>
          <a:solidFill>
            <a:srgbClr val="1A8FBF">
              <a:alpha val="50000"/>
            </a:srgbClr>
          </a:solidFill>
          <a:ln w="12700">
            <a:solidFill>
              <a:srgbClr val="1A8F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48840" y="2441448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898648"/>
            <a:ext cx="38039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704088" y="2761488"/>
            <a:ext cx="38039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F1EB"/>
                </a:solidFill>
              </a:rPr>
              <a:t>Apr 1   SFO   9:41 AM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14400" y="4892040"/>
            <a:ext cx="3383280" cy="960120"/>
          </a:xfrm>
          <a:prstGeom prst="roundRect">
            <a:avLst>
              <a:gd name="adj" fmla="val 13333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1560" y="5010912"/>
            <a:ext cx="329184" cy="329184"/>
          </a:xfrm>
          <a:prstGeom prst="ellipse">
            <a:avLst/>
          </a:prstGeom>
          <a:solidFill>
            <a:srgbClr val="D4A547"/>
          </a:solidFill>
          <a:ln w="12700">
            <a:solidFill>
              <a:srgbClr val="D4A5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5010912"/>
            <a:ext cx="17693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Terry Davis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80360" y="50383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A0E1A"/>
                </a:solidFill>
              </a:rPr>
              <a:t>CSUN Barber Shop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51560" y="539496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0E1A"/>
                </a:solidFill>
              </a:rPr>
              <a:t>Time Remaining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657600" y="5394960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A0E1A"/>
                </a:solidFill>
              </a:rPr>
              <a:t>23 min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051560" y="5605272"/>
            <a:ext cx="3108960" cy="73152"/>
          </a:xfrm>
          <a:prstGeom prst="roundRect">
            <a:avLst>
              <a:gd name="adj" fmla="val 50000"/>
            </a:avLst>
          </a:prstGeom>
          <a:solidFill>
            <a:srgbClr val="0A0E1A">
              <a:alpha val="3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5605272"/>
            <a:ext cx="1709928" cy="73152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2331720"/>
            <a:ext cx="3200400" cy="3931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0" y="2606040"/>
            <a:ext cx="640080" cy="640080"/>
          </a:xfrm>
          <a:prstGeom prst="ellipse">
            <a:avLst/>
          </a:prstGeom>
          <a:solidFill>
            <a:srgbClr val="D4A547"/>
          </a:solidFill>
          <a:ln w="12700">
            <a:solidFill>
              <a:srgbClr val="D4A5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C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172200" y="27157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clients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486400" y="3520440"/>
            <a:ext cx="2560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F4F1EB"/>
                </a:solidFill>
              </a:rPr>
              <a:t>A countdown to your appointment — without opening the app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F4F1EB"/>
                </a:solidFill>
              </a:rPr>
              <a:t>Glance-able "time to leave" cue removes the mental math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F4F1EB"/>
                </a:solidFill>
              </a:rPr>
              <a:t>When the clock turns red, you're cutting it close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503920" y="2331720"/>
            <a:ext cx="3200400" cy="3931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78240" y="260604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7824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B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555480" y="27157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barbers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869680" y="3520440"/>
            <a:ext cx="2560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F4F1EB"/>
                </a:solidFill>
              </a:rPr>
              <a:t>Time-remaining for the current client, on a wrist or counter glance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F4F1EB"/>
                </a:solidFill>
              </a:rPr>
              <a:t>Helps pace the cut without staring at a wall clock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F4F1EB"/>
                </a:solidFill>
              </a:rPr>
              <a:t>Quietly trains better client expectations across visits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CutQ  ·  HCI Final  ·  Group 8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9441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292608"/>
          </a:xfrm>
          <a:prstGeom prst="rect">
            <a:avLst/>
          </a:prstGeom>
          <a:solidFill>
            <a:srgbClr val="D4A547"/>
          </a:solidFill>
          <a:ln w="12700">
            <a:solidFill>
              <a:srgbClr val="D4A5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HIGH-FIDELITY UI IN FIGMA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 system, in flow.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Customer-side journey + barber-side dashboard, all designed in one Figma file.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483968" y="2240280"/>
            <a:ext cx="1600200" cy="3456432"/>
          </a:xfrm>
          <a:prstGeom prst="roundRect">
            <a:avLst>
              <a:gd name="adj" fmla="val 8800"/>
            </a:avLst>
          </a:prstGeom>
          <a:solidFill>
            <a:srgbClr val="1F2330"/>
          </a:solidFill>
          <a:ln w="15240">
            <a:solidFill>
              <a:srgbClr val="3A40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28773" y="2285086"/>
            <a:ext cx="1510589" cy="3366821"/>
          </a:xfrm>
          <a:prstGeom prst="roundRect">
            <a:avLst>
              <a:gd name="adj" fmla="val 7627"/>
            </a:avLst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96032" y="2317090"/>
            <a:ext cx="576072" cy="11521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24785" y="2489911"/>
            <a:ext cx="76809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CutQ</a:t>
            </a:r>
            <a:endParaRPr lang="en-US" sz="1260" dirty="0"/>
          </a:p>
        </p:txBody>
      </p:sp>
      <p:sp>
        <p:nvSpPr>
          <p:cNvPr id="10" name="Shape 8"/>
          <p:cNvSpPr/>
          <p:nvPr/>
        </p:nvSpPr>
        <p:spPr>
          <a:xfrm>
            <a:off x="3783330" y="2509114"/>
            <a:ext cx="128016" cy="128016"/>
          </a:xfrm>
          <a:prstGeom prst="roundRect">
            <a:avLst>
              <a:gd name="adj" fmla="val 20000"/>
            </a:avLst>
          </a:prstGeom>
          <a:solidFill>
            <a:srgbClr val="242938"/>
          </a:solidFill>
          <a:ln w="12700">
            <a:solidFill>
              <a:srgbClr val="2429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24785" y="2829154"/>
            <a:ext cx="1318565" cy="288036"/>
          </a:xfrm>
          <a:prstGeom prst="roundRect">
            <a:avLst>
              <a:gd name="adj" fmla="val 17778"/>
            </a:avLst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01595" y="2893162"/>
            <a:ext cx="160020" cy="160020"/>
          </a:xfrm>
          <a:prstGeom prst="roundRect">
            <a:avLst>
              <a:gd name="adj" fmla="val 50000"/>
            </a:avLst>
          </a:prstGeom>
          <a:solidFill>
            <a:srgbClr val="242938"/>
          </a:solidFill>
          <a:ln w="12700">
            <a:solidFill>
              <a:srgbClr val="2429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12821" y="2848356"/>
            <a:ext cx="960120" cy="11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9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Shop</a:t>
            </a:r>
            <a:endParaRPr lang="en-US" sz="490" dirty="0"/>
          </a:p>
        </p:txBody>
      </p:sp>
      <p:sp>
        <p:nvSpPr>
          <p:cNvPr id="14" name="Text 12"/>
          <p:cNvSpPr/>
          <p:nvPr/>
        </p:nvSpPr>
        <p:spPr>
          <a:xfrm>
            <a:off x="2912821" y="2950769"/>
            <a:ext cx="1024128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CSUN Barber Shop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624785" y="3193999"/>
            <a:ext cx="1318565" cy="768096"/>
          </a:xfrm>
          <a:prstGeom prst="roundRect">
            <a:avLst>
              <a:gd name="adj" fmla="val 6667"/>
            </a:avLst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01595" y="3245206"/>
            <a:ext cx="960120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9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Appointment</a:t>
            </a:r>
            <a:endParaRPr lang="en-US" sz="490" dirty="0"/>
          </a:p>
        </p:txBody>
      </p:sp>
      <p:sp>
        <p:nvSpPr>
          <p:cNvPr id="17" name="Text 15"/>
          <p:cNvSpPr/>
          <p:nvPr/>
        </p:nvSpPr>
        <p:spPr>
          <a:xfrm>
            <a:off x="2701595" y="3322015"/>
            <a:ext cx="1024128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3:30 PM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2701595" y="3514039"/>
            <a:ext cx="230429" cy="230429"/>
          </a:xfrm>
          <a:prstGeom prst="roundRect">
            <a:avLst>
              <a:gd name="adj" fmla="val 50000"/>
            </a:avLst>
          </a:prstGeom>
          <a:solidFill>
            <a:srgbClr val="D4A547"/>
          </a:solidFill>
          <a:ln w="12700">
            <a:solidFill>
              <a:srgbClr val="D4A5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76829" y="3526841"/>
            <a:ext cx="896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Terry Davis</a:t>
            </a:r>
            <a:endParaRPr lang="en-US" sz="630" dirty="0"/>
          </a:p>
        </p:txBody>
      </p:sp>
      <p:sp>
        <p:nvSpPr>
          <p:cNvPr id="20" name="Text 18"/>
          <p:cNvSpPr/>
          <p:nvPr/>
        </p:nvSpPr>
        <p:spPr>
          <a:xfrm>
            <a:off x="2976829" y="3629254"/>
            <a:ext cx="896112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9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Barber</a:t>
            </a:r>
            <a:endParaRPr lang="en-US" sz="490" dirty="0"/>
          </a:p>
        </p:txBody>
      </p:sp>
      <p:sp>
        <p:nvSpPr>
          <p:cNvPr id="21" name="Text 19"/>
          <p:cNvSpPr/>
          <p:nvPr/>
        </p:nvSpPr>
        <p:spPr>
          <a:xfrm>
            <a:off x="2701595" y="3782873"/>
            <a:ext cx="115214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9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  ·  CSUN Barber Shop</a:t>
            </a:r>
            <a:endParaRPr lang="en-US" sz="490" dirty="0"/>
          </a:p>
        </p:txBody>
      </p:sp>
      <p:sp>
        <p:nvSpPr>
          <p:cNvPr id="22" name="Shape 20"/>
          <p:cNvSpPr/>
          <p:nvPr/>
        </p:nvSpPr>
        <p:spPr>
          <a:xfrm>
            <a:off x="2624785" y="4038905"/>
            <a:ext cx="1318565" cy="294437"/>
          </a:xfrm>
          <a:prstGeom prst="roundRect">
            <a:avLst>
              <a:gd name="adj" fmla="val 1739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24785" y="4038905"/>
            <a:ext cx="1318565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New Appointment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624785" y="4410151"/>
            <a:ext cx="1318565" cy="1184148"/>
          </a:xfrm>
          <a:prstGeom prst="roundRect">
            <a:avLst>
              <a:gd name="adj" fmla="val 4324"/>
            </a:avLst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01595" y="4474159"/>
            <a:ext cx="960120" cy="11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Visits</a:t>
            </a:r>
            <a:endParaRPr lang="en-US" sz="630" dirty="0"/>
          </a:p>
        </p:txBody>
      </p:sp>
      <p:sp>
        <p:nvSpPr>
          <p:cNvPr id="26" name="Text 24"/>
          <p:cNvSpPr/>
          <p:nvPr/>
        </p:nvSpPr>
        <p:spPr>
          <a:xfrm>
            <a:off x="2701595" y="4666183"/>
            <a:ext cx="896112" cy="11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Fade Cut</a:t>
            </a:r>
            <a:endParaRPr lang="en-US" sz="560" dirty="0"/>
          </a:p>
        </p:txBody>
      </p:sp>
      <p:sp>
        <p:nvSpPr>
          <p:cNvPr id="27" name="Text 25"/>
          <p:cNvSpPr/>
          <p:nvPr/>
        </p:nvSpPr>
        <p:spPr>
          <a:xfrm>
            <a:off x="2701595" y="4781398"/>
            <a:ext cx="896112" cy="89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Terry Davis · Apr 20</a:t>
            </a:r>
            <a:endParaRPr lang="en-US" sz="420" dirty="0"/>
          </a:p>
        </p:txBody>
      </p:sp>
      <p:sp>
        <p:nvSpPr>
          <p:cNvPr id="28" name="Text 26"/>
          <p:cNvSpPr/>
          <p:nvPr/>
        </p:nvSpPr>
        <p:spPr>
          <a:xfrm>
            <a:off x="3687318" y="4691786"/>
            <a:ext cx="256032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9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490" dirty="0"/>
          </a:p>
        </p:txBody>
      </p:sp>
      <p:sp>
        <p:nvSpPr>
          <p:cNvPr id="29" name="Shape 27"/>
          <p:cNvSpPr/>
          <p:nvPr/>
        </p:nvSpPr>
        <p:spPr>
          <a:xfrm>
            <a:off x="2701595" y="4883810"/>
            <a:ext cx="1164946" cy="6401"/>
          </a:xfrm>
          <a:prstGeom prst="rect">
            <a:avLst/>
          </a:prstGeom>
          <a:solidFill>
            <a:srgbClr val="242938"/>
          </a:solidFill>
          <a:ln w="12700">
            <a:solidFill>
              <a:srgbClr val="2429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01595" y="4896612"/>
            <a:ext cx="896112" cy="11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Beard Trim</a:t>
            </a:r>
            <a:endParaRPr lang="en-US" sz="560" dirty="0"/>
          </a:p>
        </p:txBody>
      </p:sp>
      <p:sp>
        <p:nvSpPr>
          <p:cNvPr id="31" name="Text 29"/>
          <p:cNvSpPr/>
          <p:nvPr/>
        </p:nvSpPr>
        <p:spPr>
          <a:xfrm>
            <a:off x="2701595" y="5011826"/>
            <a:ext cx="896112" cy="89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Terry Davis · Apr 14</a:t>
            </a:r>
            <a:endParaRPr lang="en-US" sz="420" dirty="0"/>
          </a:p>
        </p:txBody>
      </p:sp>
      <p:sp>
        <p:nvSpPr>
          <p:cNvPr id="32" name="Text 30"/>
          <p:cNvSpPr/>
          <p:nvPr/>
        </p:nvSpPr>
        <p:spPr>
          <a:xfrm>
            <a:off x="3687318" y="4922215"/>
            <a:ext cx="256032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9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490" dirty="0"/>
          </a:p>
        </p:txBody>
      </p:sp>
      <p:sp>
        <p:nvSpPr>
          <p:cNvPr id="33" name="Shape 31"/>
          <p:cNvSpPr/>
          <p:nvPr/>
        </p:nvSpPr>
        <p:spPr>
          <a:xfrm>
            <a:off x="2701595" y="5114239"/>
            <a:ext cx="1164946" cy="6401"/>
          </a:xfrm>
          <a:prstGeom prst="rect">
            <a:avLst/>
          </a:prstGeom>
          <a:solidFill>
            <a:srgbClr val="242938"/>
          </a:solidFill>
          <a:ln w="12700">
            <a:solidFill>
              <a:srgbClr val="2429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01595" y="5127041"/>
            <a:ext cx="896112" cy="11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Fade Cut</a:t>
            </a:r>
            <a:endParaRPr lang="en-US" sz="560" dirty="0"/>
          </a:p>
        </p:txBody>
      </p:sp>
      <p:sp>
        <p:nvSpPr>
          <p:cNvPr id="35" name="Text 33"/>
          <p:cNvSpPr/>
          <p:nvPr/>
        </p:nvSpPr>
        <p:spPr>
          <a:xfrm>
            <a:off x="2701595" y="5242255"/>
            <a:ext cx="896112" cy="89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Terry Davis · Apr 8</a:t>
            </a:r>
            <a:endParaRPr lang="en-US" sz="420" dirty="0"/>
          </a:p>
        </p:txBody>
      </p:sp>
      <p:sp>
        <p:nvSpPr>
          <p:cNvPr id="36" name="Text 34"/>
          <p:cNvSpPr/>
          <p:nvPr/>
        </p:nvSpPr>
        <p:spPr>
          <a:xfrm>
            <a:off x="3687318" y="5152644"/>
            <a:ext cx="256032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9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490" dirty="0"/>
          </a:p>
        </p:txBody>
      </p:sp>
      <p:sp>
        <p:nvSpPr>
          <p:cNvPr id="37" name="Shape 35"/>
          <p:cNvSpPr/>
          <p:nvPr/>
        </p:nvSpPr>
        <p:spPr>
          <a:xfrm>
            <a:off x="2701595" y="5344668"/>
            <a:ext cx="1164946" cy="6401"/>
          </a:xfrm>
          <a:prstGeom prst="rect">
            <a:avLst/>
          </a:prstGeom>
          <a:solidFill>
            <a:srgbClr val="242938"/>
          </a:solidFill>
          <a:ln w="12700">
            <a:solidFill>
              <a:srgbClr val="2429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01595" y="5357470"/>
            <a:ext cx="896112" cy="11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Beard Trim</a:t>
            </a:r>
            <a:endParaRPr lang="en-US" sz="560" dirty="0"/>
          </a:p>
        </p:txBody>
      </p:sp>
      <p:sp>
        <p:nvSpPr>
          <p:cNvPr id="39" name="Text 37"/>
          <p:cNvSpPr/>
          <p:nvPr/>
        </p:nvSpPr>
        <p:spPr>
          <a:xfrm>
            <a:off x="2701595" y="5472684"/>
            <a:ext cx="896112" cy="89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Terry Davis · Apr 3</a:t>
            </a:r>
            <a:endParaRPr lang="en-US" sz="420" dirty="0"/>
          </a:p>
        </p:txBody>
      </p:sp>
      <p:sp>
        <p:nvSpPr>
          <p:cNvPr id="40" name="Text 38"/>
          <p:cNvSpPr/>
          <p:nvPr/>
        </p:nvSpPr>
        <p:spPr>
          <a:xfrm>
            <a:off x="3687318" y="5383073"/>
            <a:ext cx="256032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9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490" dirty="0"/>
          </a:p>
        </p:txBody>
      </p:sp>
      <p:sp>
        <p:nvSpPr>
          <p:cNvPr id="41" name="Text 39"/>
          <p:cNvSpPr/>
          <p:nvPr/>
        </p:nvSpPr>
        <p:spPr>
          <a:xfrm>
            <a:off x="2301088" y="57881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358488" y="2240280"/>
            <a:ext cx="1600200" cy="3456432"/>
          </a:xfrm>
          <a:prstGeom prst="roundRect">
            <a:avLst>
              <a:gd name="adj" fmla="val 8800"/>
            </a:avLst>
          </a:prstGeom>
          <a:solidFill>
            <a:srgbClr val="1F2330"/>
          </a:solidFill>
          <a:ln w="15240">
            <a:solidFill>
              <a:srgbClr val="3A405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03293" y="2285086"/>
            <a:ext cx="1510589" cy="3366821"/>
          </a:xfrm>
          <a:prstGeom prst="roundRect">
            <a:avLst>
              <a:gd name="adj" fmla="val 7627"/>
            </a:avLst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70552" y="2317090"/>
            <a:ext cx="576072" cy="11521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99305" y="2489911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4691329" y="2489911"/>
            <a:ext cx="12801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Barber</a:t>
            </a:r>
            <a:endParaRPr lang="en-US" sz="980" dirty="0"/>
          </a:p>
        </p:txBody>
      </p:sp>
      <p:sp>
        <p:nvSpPr>
          <p:cNvPr id="47" name="Shape 45"/>
          <p:cNvSpPr/>
          <p:nvPr/>
        </p:nvSpPr>
        <p:spPr>
          <a:xfrm>
            <a:off x="4499305" y="2784348"/>
            <a:ext cx="448056" cy="140818"/>
          </a:xfrm>
          <a:prstGeom prst="roundRect">
            <a:avLst>
              <a:gd name="adj" fmla="val 50000"/>
            </a:avLst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99305" y="2784348"/>
            <a:ext cx="448056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5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CSUN</a:t>
            </a:r>
            <a:endParaRPr lang="en-US" sz="455" dirty="0"/>
          </a:p>
        </p:txBody>
      </p:sp>
      <p:sp>
        <p:nvSpPr>
          <p:cNvPr id="49" name="Shape 47"/>
          <p:cNvSpPr/>
          <p:nvPr/>
        </p:nvSpPr>
        <p:spPr>
          <a:xfrm>
            <a:off x="4998568" y="2784348"/>
            <a:ext cx="448056" cy="140818"/>
          </a:xfrm>
          <a:prstGeom prst="roundRect">
            <a:avLst>
              <a:gd name="adj" fmla="val 50000"/>
            </a:avLst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98568" y="2784348"/>
            <a:ext cx="448056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5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455" dirty="0"/>
          </a:p>
        </p:txBody>
      </p:sp>
      <p:sp>
        <p:nvSpPr>
          <p:cNvPr id="51" name="Shape 49"/>
          <p:cNvSpPr/>
          <p:nvPr/>
        </p:nvSpPr>
        <p:spPr>
          <a:xfrm>
            <a:off x="5497830" y="2784348"/>
            <a:ext cx="448056" cy="140818"/>
          </a:xfrm>
          <a:prstGeom prst="roundRect">
            <a:avLst>
              <a:gd name="adj" fmla="val 50000"/>
            </a:avLst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97830" y="2784348"/>
            <a:ext cx="448056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5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455" dirty="0"/>
          </a:p>
        </p:txBody>
      </p:sp>
      <p:sp>
        <p:nvSpPr>
          <p:cNvPr id="53" name="Text 51"/>
          <p:cNvSpPr/>
          <p:nvPr/>
        </p:nvSpPr>
        <p:spPr>
          <a:xfrm>
            <a:off x="4499305" y="3040380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Matches</a:t>
            </a:r>
            <a:endParaRPr lang="en-US" sz="630" dirty="0"/>
          </a:p>
        </p:txBody>
      </p:sp>
      <p:sp>
        <p:nvSpPr>
          <p:cNvPr id="54" name="Shape 52"/>
          <p:cNvSpPr/>
          <p:nvPr/>
        </p:nvSpPr>
        <p:spPr>
          <a:xfrm>
            <a:off x="4499305" y="3213202"/>
            <a:ext cx="1318565" cy="544068"/>
          </a:xfrm>
          <a:prstGeom prst="roundRect">
            <a:avLst>
              <a:gd name="adj" fmla="val 9412"/>
            </a:avLst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76115" y="3296412"/>
            <a:ext cx="230429" cy="230429"/>
          </a:xfrm>
          <a:prstGeom prst="roundRect">
            <a:avLst>
              <a:gd name="adj" fmla="val 50000"/>
            </a:avLst>
          </a:prstGeom>
          <a:solidFill>
            <a:srgbClr val="D4A547"/>
          </a:solidFill>
          <a:ln w="12700">
            <a:solidFill>
              <a:srgbClr val="D4A54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51349" y="3277210"/>
            <a:ext cx="832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Terry Davis</a:t>
            </a:r>
            <a:endParaRPr lang="en-US" sz="630" dirty="0"/>
          </a:p>
        </p:txBody>
      </p:sp>
      <p:sp>
        <p:nvSpPr>
          <p:cNvPr id="57" name="Text 55"/>
          <p:cNvSpPr/>
          <p:nvPr/>
        </p:nvSpPr>
        <p:spPr>
          <a:xfrm>
            <a:off x="4851349" y="3386023"/>
            <a:ext cx="83210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5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Barber · $50</a:t>
            </a:r>
            <a:endParaRPr lang="en-US" sz="455" dirty="0"/>
          </a:p>
        </p:txBody>
      </p:sp>
      <p:sp>
        <p:nvSpPr>
          <p:cNvPr id="58" name="Text 56"/>
          <p:cNvSpPr/>
          <p:nvPr/>
        </p:nvSpPr>
        <p:spPr>
          <a:xfrm>
            <a:off x="4851349" y="3501238"/>
            <a:ext cx="960120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 · 2:30 PM · CSUN</a:t>
            </a:r>
            <a:endParaRPr lang="en-US" sz="420" dirty="0"/>
          </a:p>
        </p:txBody>
      </p:sp>
      <p:sp>
        <p:nvSpPr>
          <p:cNvPr id="59" name="Text 57"/>
          <p:cNvSpPr/>
          <p:nvPr/>
        </p:nvSpPr>
        <p:spPr>
          <a:xfrm>
            <a:off x="5689854" y="3418027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840" dirty="0"/>
          </a:p>
        </p:txBody>
      </p:sp>
      <p:sp>
        <p:nvSpPr>
          <p:cNvPr id="60" name="Shape 58"/>
          <p:cNvSpPr/>
          <p:nvPr/>
        </p:nvSpPr>
        <p:spPr>
          <a:xfrm>
            <a:off x="4499305" y="3821278"/>
            <a:ext cx="1318565" cy="544068"/>
          </a:xfrm>
          <a:prstGeom prst="roundRect">
            <a:avLst>
              <a:gd name="adj" fmla="val 9412"/>
            </a:avLst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576115" y="3904488"/>
            <a:ext cx="230429" cy="230429"/>
          </a:xfrm>
          <a:prstGeom prst="roundRect">
            <a:avLst>
              <a:gd name="adj" fmla="val 50000"/>
            </a:avLst>
          </a:prstGeom>
          <a:solidFill>
            <a:srgbClr val="D4A547"/>
          </a:solidFill>
          <a:ln w="12700">
            <a:solidFill>
              <a:srgbClr val="D4A54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51349" y="3885286"/>
            <a:ext cx="832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 Davis</a:t>
            </a:r>
            <a:endParaRPr lang="en-US" sz="630" dirty="0"/>
          </a:p>
        </p:txBody>
      </p:sp>
      <p:sp>
        <p:nvSpPr>
          <p:cNvPr id="63" name="Text 61"/>
          <p:cNvSpPr/>
          <p:nvPr/>
        </p:nvSpPr>
        <p:spPr>
          <a:xfrm>
            <a:off x="4851349" y="3994099"/>
            <a:ext cx="83210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5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Barber · $50</a:t>
            </a:r>
            <a:endParaRPr lang="en-US" sz="455" dirty="0"/>
          </a:p>
        </p:txBody>
      </p:sp>
      <p:sp>
        <p:nvSpPr>
          <p:cNvPr id="64" name="Text 62"/>
          <p:cNvSpPr/>
          <p:nvPr/>
        </p:nvSpPr>
        <p:spPr>
          <a:xfrm>
            <a:off x="4851349" y="4109314"/>
            <a:ext cx="960120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 · 2:30 PM · CSUN</a:t>
            </a:r>
            <a:endParaRPr lang="en-US" sz="420" dirty="0"/>
          </a:p>
        </p:txBody>
      </p:sp>
      <p:sp>
        <p:nvSpPr>
          <p:cNvPr id="65" name="Text 63"/>
          <p:cNvSpPr/>
          <p:nvPr/>
        </p:nvSpPr>
        <p:spPr>
          <a:xfrm>
            <a:off x="5689854" y="4026103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840" dirty="0"/>
          </a:p>
        </p:txBody>
      </p:sp>
      <p:sp>
        <p:nvSpPr>
          <p:cNvPr id="66" name="Shape 64"/>
          <p:cNvSpPr/>
          <p:nvPr/>
        </p:nvSpPr>
        <p:spPr>
          <a:xfrm>
            <a:off x="4499305" y="4429354"/>
            <a:ext cx="1318565" cy="544068"/>
          </a:xfrm>
          <a:prstGeom prst="roundRect">
            <a:avLst>
              <a:gd name="adj" fmla="val 9412"/>
            </a:avLst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576115" y="4512564"/>
            <a:ext cx="230429" cy="230429"/>
          </a:xfrm>
          <a:prstGeom prst="roundRect">
            <a:avLst>
              <a:gd name="adj" fmla="val 50000"/>
            </a:avLst>
          </a:prstGeom>
          <a:solidFill>
            <a:srgbClr val="D4A547"/>
          </a:solidFill>
          <a:ln w="12700">
            <a:solidFill>
              <a:srgbClr val="D4A54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51349" y="4493362"/>
            <a:ext cx="832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George Smith</a:t>
            </a:r>
            <a:endParaRPr lang="en-US" sz="630" dirty="0"/>
          </a:p>
        </p:txBody>
      </p:sp>
      <p:sp>
        <p:nvSpPr>
          <p:cNvPr id="69" name="Text 67"/>
          <p:cNvSpPr/>
          <p:nvPr/>
        </p:nvSpPr>
        <p:spPr>
          <a:xfrm>
            <a:off x="4851349" y="4602175"/>
            <a:ext cx="83210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5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Novice Barber · $40</a:t>
            </a:r>
            <a:endParaRPr lang="en-US" sz="455" dirty="0"/>
          </a:p>
        </p:txBody>
      </p:sp>
      <p:sp>
        <p:nvSpPr>
          <p:cNvPr id="70" name="Text 68"/>
          <p:cNvSpPr/>
          <p:nvPr/>
        </p:nvSpPr>
        <p:spPr>
          <a:xfrm>
            <a:off x="4851349" y="4717390"/>
            <a:ext cx="960120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 · 2:30 PM · CSUN</a:t>
            </a:r>
            <a:endParaRPr lang="en-US" sz="420" dirty="0"/>
          </a:p>
        </p:txBody>
      </p:sp>
      <p:sp>
        <p:nvSpPr>
          <p:cNvPr id="71" name="Text 69"/>
          <p:cNvSpPr/>
          <p:nvPr/>
        </p:nvSpPr>
        <p:spPr>
          <a:xfrm>
            <a:off x="5689854" y="4634179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840" dirty="0"/>
          </a:p>
        </p:txBody>
      </p:sp>
      <p:sp>
        <p:nvSpPr>
          <p:cNvPr id="72" name="Shape 70"/>
          <p:cNvSpPr/>
          <p:nvPr/>
        </p:nvSpPr>
        <p:spPr>
          <a:xfrm>
            <a:off x="4499305" y="5037430"/>
            <a:ext cx="1318565" cy="544068"/>
          </a:xfrm>
          <a:prstGeom prst="roundRect">
            <a:avLst>
              <a:gd name="adj" fmla="val 9412"/>
            </a:avLst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576115" y="5120640"/>
            <a:ext cx="230429" cy="230429"/>
          </a:xfrm>
          <a:prstGeom prst="roundRect">
            <a:avLst>
              <a:gd name="adj" fmla="val 50000"/>
            </a:avLst>
          </a:prstGeom>
          <a:solidFill>
            <a:srgbClr val="D4A547"/>
          </a:solidFill>
          <a:ln w="12700">
            <a:solidFill>
              <a:srgbClr val="D4A547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851349" y="5101438"/>
            <a:ext cx="832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Appleseed</a:t>
            </a:r>
            <a:endParaRPr lang="en-US" sz="630" dirty="0"/>
          </a:p>
        </p:txBody>
      </p:sp>
      <p:sp>
        <p:nvSpPr>
          <p:cNvPr id="75" name="Text 73"/>
          <p:cNvSpPr/>
          <p:nvPr/>
        </p:nvSpPr>
        <p:spPr>
          <a:xfrm>
            <a:off x="4851349" y="5210251"/>
            <a:ext cx="83210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5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Barber · $30</a:t>
            </a:r>
            <a:endParaRPr lang="en-US" sz="455" dirty="0"/>
          </a:p>
        </p:txBody>
      </p:sp>
      <p:sp>
        <p:nvSpPr>
          <p:cNvPr id="76" name="Text 74"/>
          <p:cNvSpPr/>
          <p:nvPr/>
        </p:nvSpPr>
        <p:spPr>
          <a:xfrm>
            <a:off x="4851349" y="5325466"/>
            <a:ext cx="960120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 · 2:30 PM · CSUN</a:t>
            </a:r>
            <a:endParaRPr lang="en-US" sz="420" dirty="0"/>
          </a:p>
        </p:txBody>
      </p:sp>
      <p:sp>
        <p:nvSpPr>
          <p:cNvPr id="77" name="Text 75"/>
          <p:cNvSpPr/>
          <p:nvPr/>
        </p:nvSpPr>
        <p:spPr>
          <a:xfrm>
            <a:off x="5689854" y="5242255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840" dirty="0"/>
          </a:p>
        </p:txBody>
      </p:sp>
      <p:sp>
        <p:nvSpPr>
          <p:cNvPr id="78" name="Text 76"/>
          <p:cNvSpPr/>
          <p:nvPr/>
        </p:nvSpPr>
        <p:spPr>
          <a:xfrm>
            <a:off x="4175608" y="57881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6233008" y="2240280"/>
            <a:ext cx="1600200" cy="3456432"/>
          </a:xfrm>
          <a:prstGeom prst="roundRect">
            <a:avLst>
              <a:gd name="adj" fmla="val 8800"/>
            </a:avLst>
          </a:prstGeom>
          <a:solidFill>
            <a:srgbClr val="1F2330"/>
          </a:solidFill>
          <a:ln w="15240">
            <a:solidFill>
              <a:srgbClr val="3A4055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277813" y="2285086"/>
            <a:ext cx="1510589" cy="3366821"/>
          </a:xfrm>
          <a:prstGeom prst="roundRect">
            <a:avLst>
              <a:gd name="adj" fmla="val 7627"/>
            </a:avLst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745072" y="2317090"/>
            <a:ext cx="576072" cy="11521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373825" y="2489911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980" dirty="0"/>
          </a:p>
        </p:txBody>
      </p:sp>
      <p:sp>
        <p:nvSpPr>
          <p:cNvPr id="83" name="Text 81"/>
          <p:cNvSpPr/>
          <p:nvPr/>
        </p:nvSpPr>
        <p:spPr>
          <a:xfrm>
            <a:off x="6565849" y="2464308"/>
            <a:ext cx="1280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Time</a:t>
            </a:r>
            <a:endParaRPr lang="en-US" sz="980" dirty="0"/>
          </a:p>
        </p:txBody>
      </p:sp>
      <p:sp>
        <p:nvSpPr>
          <p:cNvPr id="84" name="Text 82"/>
          <p:cNvSpPr/>
          <p:nvPr/>
        </p:nvSpPr>
        <p:spPr>
          <a:xfrm>
            <a:off x="6565849" y="2637130"/>
            <a:ext cx="1280160" cy="11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Terry Davis</a:t>
            </a:r>
            <a:endParaRPr lang="en-US" sz="560" dirty="0"/>
          </a:p>
        </p:txBody>
      </p:sp>
      <p:sp>
        <p:nvSpPr>
          <p:cNvPr id="85" name="Shape 83"/>
          <p:cNvSpPr/>
          <p:nvPr/>
        </p:nvSpPr>
        <p:spPr>
          <a:xfrm>
            <a:off x="6373825" y="2829154"/>
            <a:ext cx="768096" cy="140818"/>
          </a:xfrm>
          <a:prstGeom prst="roundRect">
            <a:avLst>
              <a:gd name="adj" fmla="val 50000"/>
            </a:avLst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373825" y="2829154"/>
            <a:ext cx="768096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5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Afternoon</a:t>
            </a:r>
            <a:endParaRPr lang="en-US" sz="455" dirty="0"/>
          </a:p>
        </p:txBody>
      </p:sp>
      <p:sp>
        <p:nvSpPr>
          <p:cNvPr id="87" name="Text 85"/>
          <p:cNvSpPr/>
          <p:nvPr/>
        </p:nvSpPr>
        <p:spPr>
          <a:xfrm>
            <a:off x="6373825" y="3040380"/>
            <a:ext cx="131856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" spc="200" kern="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10:15 AM</a:t>
            </a:r>
            <a:endParaRPr lang="en-US" sz="490" dirty="0"/>
          </a:p>
        </p:txBody>
      </p:sp>
      <p:sp>
        <p:nvSpPr>
          <p:cNvPr id="88" name="Shape 86"/>
          <p:cNvSpPr/>
          <p:nvPr/>
        </p:nvSpPr>
        <p:spPr>
          <a:xfrm>
            <a:off x="6373825" y="3245206"/>
            <a:ext cx="1318565" cy="268834"/>
          </a:xfrm>
          <a:prstGeom prst="roundRect">
            <a:avLst>
              <a:gd name="adj" fmla="val 19048"/>
            </a:avLst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450635" y="3277210"/>
            <a:ext cx="768096" cy="11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10:30 AM</a:t>
            </a:r>
            <a:endParaRPr lang="en-US" sz="630" dirty="0"/>
          </a:p>
        </p:txBody>
      </p:sp>
      <p:sp>
        <p:nvSpPr>
          <p:cNvPr id="90" name="Text 88"/>
          <p:cNvSpPr/>
          <p:nvPr/>
        </p:nvSpPr>
        <p:spPr>
          <a:xfrm>
            <a:off x="6450635" y="3386023"/>
            <a:ext cx="768096" cy="89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5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appointment</a:t>
            </a:r>
            <a:endParaRPr lang="en-US" sz="455" dirty="0"/>
          </a:p>
        </p:txBody>
      </p:sp>
      <p:sp>
        <p:nvSpPr>
          <p:cNvPr id="91" name="Text 89"/>
          <p:cNvSpPr/>
          <p:nvPr/>
        </p:nvSpPr>
        <p:spPr>
          <a:xfrm>
            <a:off x="7564374" y="3309214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840" dirty="0"/>
          </a:p>
        </p:txBody>
      </p:sp>
      <p:sp>
        <p:nvSpPr>
          <p:cNvPr id="92" name="Shape 90"/>
          <p:cNvSpPr/>
          <p:nvPr/>
        </p:nvSpPr>
        <p:spPr>
          <a:xfrm>
            <a:off x="6373825" y="3565246"/>
            <a:ext cx="1318565" cy="268834"/>
          </a:xfrm>
          <a:prstGeom prst="roundRect">
            <a:avLst>
              <a:gd name="adj" fmla="val 19048"/>
            </a:avLst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450635" y="3597250"/>
            <a:ext cx="768096" cy="11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 AM</a:t>
            </a:r>
            <a:endParaRPr lang="en-US" sz="630" dirty="0"/>
          </a:p>
        </p:txBody>
      </p:sp>
      <p:sp>
        <p:nvSpPr>
          <p:cNvPr id="94" name="Text 92"/>
          <p:cNvSpPr/>
          <p:nvPr/>
        </p:nvSpPr>
        <p:spPr>
          <a:xfrm>
            <a:off x="6450635" y="3706063"/>
            <a:ext cx="768096" cy="89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5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appointment</a:t>
            </a:r>
            <a:endParaRPr lang="en-US" sz="455" dirty="0"/>
          </a:p>
        </p:txBody>
      </p:sp>
      <p:sp>
        <p:nvSpPr>
          <p:cNvPr id="95" name="Text 93"/>
          <p:cNvSpPr/>
          <p:nvPr/>
        </p:nvSpPr>
        <p:spPr>
          <a:xfrm>
            <a:off x="7564374" y="3629254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840" dirty="0"/>
          </a:p>
        </p:txBody>
      </p:sp>
      <p:sp>
        <p:nvSpPr>
          <p:cNvPr id="96" name="Shape 94"/>
          <p:cNvSpPr/>
          <p:nvPr/>
        </p:nvSpPr>
        <p:spPr>
          <a:xfrm>
            <a:off x="6373825" y="3885286"/>
            <a:ext cx="1318565" cy="268834"/>
          </a:xfrm>
          <a:prstGeom prst="roundRect">
            <a:avLst>
              <a:gd name="adj" fmla="val 19048"/>
            </a:avLst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450635" y="3917290"/>
            <a:ext cx="768096" cy="11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11:30 AM</a:t>
            </a:r>
            <a:endParaRPr lang="en-US" sz="630" dirty="0"/>
          </a:p>
        </p:txBody>
      </p:sp>
      <p:sp>
        <p:nvSpPr>
          <p:cNvPr id="98" name="Text 96"/>
          <p:cNvSpPr/>
          <p:nvPr/>
        </p:nvSpPr>
        <p:spPr>
          <a:xfrm>
            <a:off x="6450635" y="4026103"/>
            <a:ext cx="768096" cy="89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5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unavailable</a:t>
            </a:r>
            <a:endParaRPr lang="en-US" sz="455" dirty="0"/>
          </a:p>
        </p:txBody>
      </p:sp>
      <p:sp>
        <p:nvSpPr>
          <p:cNvPr id="99" name="Text 97"/>
          <p:cNvSpPr/>
          <p:nvPr/>
        </p:nvSpPr>
        <p:spPr>
          <a:xfrm>
            <a:off x="7564374" y="3949294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840" dirty="0"/>
          </a:p>
        </p:txBody>
      </p:sp>
      <p:sp>
        <p:nvSpPr>
          <p:cNvPr id="100" name="Shape 98"/>
          <p:cNvSpPr/>
          <p:nvPr/>
        </p:nvSpPr>
        <p:spPr>
          <a:xfrm>
            <a:off x="6373825" y="4205326"/>
            <a:ext cx="1318565" cy="268834"/>
          </a:xfrm>
          <a:prstGeom prst="roundRect">
            <a:avLst>
              <a:gd name="adj" fmla="val 19048"/>
            </a:avLst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450635" y="4237330"/>
            <a:ext cx="768096" cy="11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 PM</a:t>
            </a:r>
            <a:endParaRPr lang="en-US" sz="630" dirty="0"/>
          </a:p>
        </p:txBody>
      </p:sp>
      <p:sp>
        <p:nvSpPr>
          <p:cNvPr id="102" name="Text 100"/>
          <p:cNvSpPr/>
          <p:nvPr/>
        </p:nvSpPr>
        <p:spPr>
          <a:xfrm>
            <a:off x="6450635" y="4346143"/>
            <a:ext cx="768096" cy="89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5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appointment</a:t>
            </a:r>
            <a:endParaRPr lang="en-US" sz="455" dirty="0"/>
          </a:p>
        </p:txBody>
      </p:sp>
      <p:sp>
        <p:nvSpPr>
          <p:cNvPr id="103" name="Text 101"/>
          <p:cNvSpPr/>
          <p:nvPr/>
        </p:nvSpPr>
        <p:spPr>
          <a:xfrm>
            <a:off x="7564374" y="4269334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840" dirty="0"/>
          </a:p>
        </p:txBody>
      </p:sp>
      <p:sp>
        <p:nvSpPr>
          <p:cNvPr id="104" name="Shape 102"/>
          <p:cNvSpPr/>
          <p:nvPr/>
        </p:nvSpPr>
        <p:spPr>
          <a:xfrm>
            <a:off x="6373825" y="4525366"/>
            <a:ext cx="1318565" cy="268834"/>
          </a:xfrm>
          <a:prstGeom prst="roundRect">
            <a:avLst>
              <a:gd name="adj" fmla="val 19048"/>
            </a:avLst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450635" y="4557370"/>
            <a:ext cx="768096" cy="11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12:30 PM</a:t>
            </a:r>
            <a:endParaRPr lang="en-US" sz="630" dirty="0"/>
          </a:p>
        </p:txBody>
      </p:sp>
      <p:sp>
        <p:nvSpPr>
          <p:cNvPr id="106" name="Text 104"/>
          <p:cNvSpPr/>
          <p:nvPr/>
        </p:nvSpPr>
        <p:spPr>
          <a:xfrm>
            <a:off x="6450635" y="4666183"/>
            <a:ext cx="768096" cy="89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5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unavailable</a:t>
            </a:r>
            <a:endParaRPr lang="en-US" sz="455" dirty="0"/>
          </a:p>
        </p:txBody>
      </p:sp>
      <p:sp>
        <p:nvSpPr>
          <p:cNvPr id="107" name="Text 105"/>
          <p:cNvSpPr/>
          <p:nvPr/>
        </p:nvSpPr>
        <p:spPr>
          <a:xfrm>
            <a:off x="7564374" y="4589374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840" dirty="0"/>
          </a:p>
        </p:txBody>
      </p:sp>
      <p:sp>
        <p:nvSpPr>
          <p:cNvPr id="108" name="Shape 106"/>
          <p:cNvSpPr/>
          <p:nvPr/>
        </p:nvSpPr>
        <p:spPr>
          <a:xfrm>
            <a:off x="6373825" y="4845406"/>
            <a:ext cx="1318565" cy="268834"/>
          </a:xfrm>
          <a:prstGeom prst="roundRect">
            <a:avLst>
              <a:gd name="adj" fmla="val 19048"/>
            </a:avLst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450635" y="4877410"/>
            <a:ext cx="768096" cy="11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 PM</a:t>
            </a:r>
            <a:endParaRPr lang="en-US" sz="630" dirty="0"/>
          </a:p>
        </p:txBody>
      </p:sp>
      <p:sp>
        <p:nvSpPr>
          <p:cNvPr id="110" name="Text 108"/>
          <p:cNvSpPr/>
          <p:nvPr/>
        </p:nvSpPr>
        <p:spPr>
          <a:xfrm>
            <a:off x="6450635" y="4986223"/>
            <a:ext cx="768096" cy="89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5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appointment</a:t>
            </a:r>
            <a:endParaRPr lang="en-US" sz="455" dirty="0"/>
          </a:p>
        </p:txBody>
      </p:sp>
      <p:sp>
        <p:nvSpPr>
          <p:cNvPr id="111" name="Text 109"/>
          <p:cNvSpPr/>
          <p:nvPr/>
        </p:nvSpPr>
        <p:spPr>
          <a:xfrm>
            <a:off x="7564374" y="4909414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840" dirty="0"/>
          </a:p>
        </p:txBody>
      </p:sp>
      <p:sp>
        <p:nvSpPr>
          <p:cNvPr id="112" name="Shape 110"/>
          <p:cNvSpPr/>
          <p:nvPr/>
        </p:nvSpPr>
        <p:spPr>
          <a:xfrm>
            <a:off x="6373825" y="5165446"/>
            <a:ext cx="1318565" cy="268834"/>
          </a:xfrm>
          <a:prstGeom prst="roundRect">
            <a:avLst>
              <a:gd name="adj" fmla="val 19048"/>
            </a:avLst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450635" y="5197450"/>
            <a:ext cx="768096" cy="11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 PM</a:t>
            </a:r>
            <a:endParaRPr lang="en-US" sz="630" dirty="0"/>
          </a:p>
        </p:txBody>
      </p:sp>
      <p:sp>
        <p:nvSpPr>
          <p:cNvPr id="114" name="Text 112"/>
          <p:cNvSpPr/>
          <p:nvPr/>
        </p:nvSpPr>
        <p:spPr>
          <a:xfrm>
            <a:off x="6450635" y="5306263"/>
            <a:ext cx="768096" cy="89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5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appointment</a:t>
            </a:r>
            <a:endParaRPr lang="en-US" sz="455" dirty="0"/>
          </a:p>
        </p:txBody>
      </p:sp>
      <p:sp>
        <p:nvSpPr>
          <p:cNvPr id="115" name="Text 113"/>
          <p:cNvSpPr/>
          <p:nvPr/>
        </p:nvSpPr>
        <p:spPr>
          <a:xfrm>
            <a:off x="7564374" y="5229454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840" dirty="0"/>
          </a:p>
        </p:txBody>
      </p:sp>
      <p:sp>
        <p:nvSpPr>
          <p:cNvPr id="116" name="Text 114"/>
          <p:cNvSpPr/>
          <p:nvPr/>
        </p:nvSpPr>
        <p:spPr>
          <a:xfrm>
            <a:off x="6050128" y="57881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Time</a:t>
            </a:r>
            <a:endParaRPr lang="en-US" sz="1100" dirty="0"/>
          </a:p>
        </p:txBody>
      </p:sp>
      <p:sp>
        <p:nvSpPr>
          <p:cNvPr id="117" name="Shape 115"/>
          <p:cNvSpPr/>
          <p:nvPr/>
        </p:nvSpPr>
        <p:spPr>
          <a:xfrm>
            <a:off x="8107528" y="2240280"/>
            <a:ext cx="1600200" cy="3456432"/>
          </a:xfrm>
          <a:prstGeom prst="roundRect">
            <a:avLst>
              <a:gd name="adj" fmla="val 8800"/>
            </a:avLst>
          </a:prstGeom>
          <a:solidFill>
            <a:srgbClr val="1F2330"/>
          </a:solidFill>
          <a:ln w="15240">
            <a:solidFill>
              <a:srgbClr val="3A4055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8152333" y="2285086"/>
            <a:ext cx="1510589" cy="3366821"/>
          </a:xfrm>
          <a:prstGeom prst="roundRect">
            <a:avLst>
              <a:gd name="adj" fmla="val 7627"/>
            </a:avLst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619592" y="2317090"/>
            <a:ext cx="576072" cy="11521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8248345" y="2489911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980" dirty="0"/>
          </a:p>
        </p:txBody>
      </p:sp>
      <p:sp>
        <p:nvSpPr>
          <p:cNvPr id="121" name="Text 119"/>
          <p:cNvSpPr/>
          <p:nvPr/>
        </p:nvSpPr>
        <p:spPr>
          <a:xfrm>
            <a:off x="8440369" y="2489911"/>
            <a:ext cx="1280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Booking</a:t>
            </a:r>
            <a:endParaRPr lang="en-US" sz="910" dirty="0"/>
          </a:p>
        </p:txBody>
      </p:sp>
      <p:sp>
        <p:nvSpPr>
          <p:cNvPr id="122" name="Shape 120"/>
          <p:cNvSpPr/>
          <p:nvPr/>
        </p:nvSpPr>
        <p:spPr>
          <a:xfrm>
            <a:off x="8248345" y="2893162"/>
            <a:ext cx="1318565" cy="1536192"/>
          </a:xfrm>
          <a:prstGeom prst="roundRect">
            <a:avLst>
              <a:gd name="adj" fmla="val 3883"/>
            </a:avLst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325155" y="2969971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Details</a:t>
            </a:r>
            <a:endParaRPr lang="en-US" sz="630" dirty="0"/>
          </a:p>
        </p:txBody>
      </p:sp>
      <p:sp>
        <p:nvSpPr>
          <p:cNvPr id="124" name="Shape 122"/>
          <p:cNvSpPr/>
          <p:nvPr/>
        </p:nvSpPr>
        <p:spPr>
          <a:xfrm>
            <a:off x="8325155" y="3136392"/>
            <a:ext cx="217627" cy="217627"/>
          </a:xfrm>
          <a:prstGeom prst="roundRect">
            <a:avLst>
              <a:gd name="adj" fmla="val 50000"/>
            </a:avLst>
          </a:prstGeom>
          <a:solidFill>
            <a:srgbClr val="D4A547"/>
          </a:solidFill>
          <a:ln w="12700">
            <a:solidFill>
              <a:srgbClr val="D4A547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8600389" y="3123590"/>
            <a:ext cx="896112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5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Barber</a:t>
            </a:r>
            <a:endParaRPr lang="en-US" sz="455" dirty="0"/>
          </a:p>
        </p:txBody>
      </p:sp>
      <p:sp>
        <p:nvSpPr>
          <p:cNvPr id="126" name="Text 124"/>
          <p:cNvSpPr/>
          <p:nvPr/>
        </p:nvSpPr>
        <p:spPr>
          <a:xfrm>
            <a:off x="8600389" y="3213202"/>
            <a:ext cx="896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Terry Davis</a:t>
            </a:r>
            <a:endParaRPr lang="en-US" sz="630" dirty="0"/>
          </a:p>
        </p:txBody>
      </p:sp>
      <p:sp>
        <p:nvSpPr>
          <p:cNvPr id="127" name="Shape 125"/>
          <p:cNvSpPr/>
          <p:nvPr/>
        </p:nvSpPr>
        <p:spPr>
          <a:xfrm>
            <a:off x="8344357" y="3443630"/>
            <a:ext cx="179222" cy="179222"/>
          </a:xfrm>
          <a:prstGeom prst="roundRect">
            <a:avLst>
              <a:gd name="adj" fmla="val 17857"/>
            </a:avLst>
          </a:prstGeom>
          <a:solidFill>
            <a:srgbClr val="242938"/>
          </a:solidFill>
          <a:ln w="12700">
            <a:solidFill>
              <a:srgbClr val="242938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8600389" y="3424428"/>
            <a:ext cx="960120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5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&amp; Time</a:t>
            </a:r>
            <a:endParaRPr lang="en-US" sz="455" dirty="0"/>
          </a:p>
        </p:txBody>
      </p:sp>
      <p:sp>
        <p:nvSpPr>
          <p:cNvPr id="129" name="Text 127"/>
          <p:cNvSpPr/>
          <p:nvPr/>
        </p:nvSpPr>
        <p:spPr>
          <a:xfrm>
            <a:off x="8600389" y="3514039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5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18, 2026 · 1:00 PM</a:t>
            </a:r>
            <a:endParaRPr lang="en-US" sz="595" dirty="0"/>
          </a:p>
        </p:txBody>
      </p:sp>
      <p:sp>
        <p:nvSpPr>
          <p:cNvPr id="130" name="Shape 128"/>
          <p:cNvSpPr/>
          <p:nvPr/>
        </p:nvSpPr>
        <p:spPr>
          <a:xfrm>
            <a:off x="8344357" y="3706063"/>
            <a:ext cx="179222" cy="179222"/>
          </a:xfrm>
          <a:prstGeom prst="roundRect">
            <a:avLst>
              <a:gd name="adj" fmla="val 17857"/>
            </a:avLst>
          </a:prstGeom>
          <a:solidFill>
            <a:srgbClr val="242938"/>
          </a:solidFill>
          <a:ln w="12700">
            <a:solidFill>
              <a:srgbClr val="242938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8600389" y="3686861"/>
            <a:ext cx="960120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5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455" dirty="0"/>
          </a:p>
        </p:txBody>
      </p:sp>
      <p:sp>
        <p:nvSpPr>
          <p:cNvPr id="132" name="Text 130"/>
          <p:cNvSpPr/>
          <p:nvPr/>
        </p:nvSpPr>
        <p:spPr>
          <a:xfrm>
            <a:off x="8600389" y="3776472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Minutes</a:t>
            </a:r>
            <a:endParaRPr lang="en-US" sz="630" dirty="0"/>
          </a:p>
        </p:txBody>
      </p:sp>
      <p:sp>
        <p:nvSpPr>
          <p:cNvPr id="133" name="Shape 131"/>
          <p:cNvSpPr/>
          <p:nvPr/>
        </p:nvSpPr>
        <p:spPr>
          <a:xfrm>
            <a:off x="8344357" y="3968496"/>
            <a:ext cx="179222" cy="179222"/>
          </a:xfrm>
          <a:prstGeom prst="roundRect">
            <a:avLst>
              <a:gd name="adj" fmla="val 17857"/>
            </a:avLst>
          </a:prstGeom>
          <a:solidFill>
            <a:srgbClr val="242938"/>
          </a:solidFill>
          <a:ln w="12700">
            <a:solidFill>
              <a:srgbClr val="242938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8600389" y="3949294"/>
            <a:ext cx="960120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5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455" dirty="0"/>
          </a:p>
        </p:txBody>
      </p:sp>
      <p:sp>
        <p:nvSpPr>
          <p:cNvPr id="135" name="Text 133"/>
          <p:cNvSpPr/>
          <p:nvPr/>
        </p:nvSpPr>
        <p:spPr>
          <a:xfrm>
            <a:off x="8600389" y="4038905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</a:t>
            </a:r>
            <a:endParaRPr lang="en-US" sz="630" dirty="0"/>
          </a:p>
        </p:txBody>
      </p:sp>
      <p:sp>
        <p:nvSpPr>
          <p:cNvPr id="136" name="Shape 134"/>
          <p:cNvSpPr/>
          <p:nvPr/>
        </p:nvSpPr>
        <p:spPr>
          <a:xfrm>
            <a:off x="8344357" y="4205326"/>
            <a:ext cx="179222" cy="179222"/>
          </a:xfrm>
          <a:prstGeom prst="roundRect">
            <a:avLst>
              <a:gd name="adj" fmla="val 17857"/>
            </a:avLst>
          </a:prstGeom>
          <a:solidFill>
            <a:srgbClr val="242938"/>
          </a:solidFill>
          <a:ln w="12700">
            <a:solidFill>
              <a:srgbClr val="242938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8600389" y="4186123"/>
            <a:ext cx="960120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5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455" dirty="0"/>
          </a:p>
        </p:txBody>
      </p:sp>
      <p:sp>
        <p:nvSpPr>
          <p:cNvPr id="138" name="Text 136"/>
          <p:cNvSpPr/>
          <p:nvPr/>
        </p:nvSpPr>
        <p:spPr>
          <a:xfrm>
            <a:off x="8600389" y="4275734"/>
            <a:ext cx="960120" cy="11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CSUN Barber Shop</a:t>
            </a:r>
            <a:endParaRPr lang="en-US" sz="560" dirty="0"/>
          </a:p>
        </p:txBody>
      </p:sp>
      <p:sp>
        <p:nvSpPr>
          <p:cNvPr id="139" name="Shape 137"/>
          <p:cNvSpPr/>
          <p:nvPr/>
        </p:nvSpPr>
        <p:spPr>
          <a:xfrm>
            <a:off x="8248345" y="4621378"/>
            <a:ext cx="1318565" cy="294437"/>
          </a:xfrm>
          <a:prstGeom prst="roundRect">
            <a:avLst>
              <a:gd name="adj" fmla="val 1739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8248345" y="4621378"/>
            <a:ext cx="1318565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Appointment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8248345" y="5005426"/>
            <a:ext cx="1318565" cy="294437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8248345" y="5005426"/>
            <a:ext cx="1318565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Time</a:t>
            </a:r>
            <a:endParaRPr lang="en-US" sz="700" dirty="0"/>
          </a:p>
        </p:txBody>
      </p:sp>
      <p:sp>
        <p:nvSpPr>
          <p:cNvPr id="143" name="Text 141"/>
          <p:cNvSpPr/>
          <p:nvPr/>
        </p:nvSpPr>
        <p:spPr>
          <a:xfrm>
            <a:off x="7924648" y="57881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100" dirty="0"/>
          </a:p>
        </p:txBody>
      </p:sp>
      <p:sp>
        <p:nvSpPr>
          <p:cNvPr id="144" name="Shape 142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4F1EB"/>
                </a:solidFill>
              </a:rPr>
              <a:t>Single Figma source · 7 hi-fi screens · component library + variables · clickable prototype links every CTA</a:t>
            </a:r>
            <a:endParaRPr lang="en-US" sz="1100" dirty="0"/>
          </a:p>
        </p:txBody>
      </p:sp>
      <p:sp>
        <p:nvSpPr>
          <p:cNvPr id="146" name="Text 14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CutQ  ·  HCI Final  ·  Group 8</a:t>
            </a:r>
            <a:endParaRPr lang="en-US" sz="900" dirty="0"/>
          </a:p>
        </p:txBody>
      </p:sp>
      <p:sp>
        <p:nvSpPr>
          <p:cNvPr id="147" name="Text 145"/>
          <p:cNvSpPr/>
          <p:nvPr/>
        </p:nvSpPr>
        <p:spPr>
          <a:xfrm>
            <a:off x="1109441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292608"/>
          </a:xfrm>
          <a:prstGeom prst="rect">
            <a:avLst/>
          </a:prstGeom>
          <a:solidFill>
            <a:srgbClr val="D4A547"/>
          </a:solidFill>
          <a:ln w="12700">
            <a:solidFill>
              <a:srgbClr val="D4A5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TESTING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tested it.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rounds, two formats, six participants.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54864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331720"/>
            <a:ext cx="54864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317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Round 1 · Paper mockups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880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n = 6 · 30 min each · think-aloud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24612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A0E1A"/>
                </a:solidFill>
              </a:rPr>
              <a:t>Tested booking flow + dashboard read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A0E1A"/>
                </a:solidFill>
              </a:rPr>
              <a:t>Captured confusion points before pixels were precious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A0E1A"/>
                </a:solidFill>
              </a:rPr>
              <a:t>5/6 finished booking; 4/6 read dashboard correctly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2331720"/>
            <a:ext cx="54864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2331720"/>
            <a:ext cx="54864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3317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Round 2 · Clickable Figma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2880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n = 6 · moderated, in-shop where possible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0" y="324612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A0E1A"/>
                </a:solidFill>
              </a:rPr>
              <a:t>Same task set + Live Activity recognition test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A0E1A"/>
                </a:solidFill>
              </a:rPr>
              <a:t>SUS administered post-task (avg 82.5 — "good to excellent")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A0E1A"/>
                </a:solidFill>
              </a:rPr>
              <a:t>All 6 finished booking flow without prompting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800600"/>
            <a:ext cx="11247120" cy="155448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9103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547"/>
                </a:solidFill>
              </a:rPr>
              <a:t>CORE TASKS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5184648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F4F1EB"/>
                </a:solidFill>
              </a:rPr>
              <a:t>1. Book an appointment with your preferred barber.</a:t>
            </a:r>
            <a:endParaRPr lang="en-US" sz="1050" dirty="0"/>
          </a:p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F4F1EB"/>
                </a:solidFill>
              </a:rPr>
              <a:t>2. Find an alternative when your barber is fully booked.</a:t>
            </a:r>
            <a:endParaRPr lang="en-US" sz="1050" dirty="0"/>
          </a:p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F4F1EB"/>
                </a:solidFill>
              </a:rPr>
              <a:t>3. Tell us when your next appointment starts — without opening CutQ.</a:t>
            </a:r>
            <a:endParaRPr lang="en-US" sz="1050" dirty="0"/>
          </a:p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F4F1EB"/>
                </a:solidFill>
              </a:rPr>
              <a:t>4. (Barber) Tell us how much you've earned today and how many appointments remain.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CutQ  ·  HCI Final  ·  Group 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441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292608"/>
          </a:xfrm>
          <a:prstGeom prst="rect">
            <a:avLst/>
          </a:prstGeom>
          <a:solidFill>
            <a:srgbClr val="D4A547"/>
          </a:solidFill>
          <a:ln w="12700">
            <a:solidFill>
              <a:srgbClr val="D4A5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&amp; ITERATIONS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learned. What we changed.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F4444"/>
                </a:solidFill>
              </a:rPr>
              <a:t>WHAT TESTING SURFACED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26480" y="2331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</a:rPr>
              <a:t>WHAT WE SHIPPED IN RESPONSE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633472"/>
            <a:ext cx="11155680" cy="18288"/>
          </a:xfrm>
          <a:prstGeom prst="rect">
            <a:avLst/>
          </a:prstGeom>
          <a:solidFill>
            <a:srgbClr val="E3DDD2"/>
          </a:solidFill>
          <a:ln w="12700">
            <a:solidFill>
              <a:srgbClr val="E3DD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743200"/>
            <a:ext cx="11155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97880" y="2743200"/>
            <a:ext cx="27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547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27889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A0E1A"/>
                </a:solidFill>
              </a:rPr>
              <a:t>Users tapped 'Book Next' expecting an instant booking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63640" y="27889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A0E1A"/>
                </a:solidFill>
              </a:rPr>
              <a:t>Renamed to 'Book New Appointment' + added Confirm step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897880" y="3383280"/>
            <a:ext cx="27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547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4360" y="34290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A0E1A"/>
                </a:solidFill>
              </a:rPr>
              <a:t>Time slot list scrolled past unavailable times unnoticed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63640" y="34290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A0E1A"/>
                </a:solidFill>
              </a:rPr>
              <a:t>Greyed unavailable rows + reduced visual weight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11155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97880" y="4023360"/>
            <a:ext cx="27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547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4360" y="40690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A0E1A"/>
                </a:solidFill>
              </a:rPr>
              <a:t>Barber dashboard 'In Progress' pill confused with notification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63640" y="40690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A0E1A"/>
                </a:solidFill>
              </a:rPr>
              <a:t>Repositioned to top-right with calmer fill color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897880" y="4663440"/>
            <a:ext cx="27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547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94360" y="47091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A0E1A"/>
                </a:solidFill>
              </a:rPr>
              <a:t>Live Activity card looked like a generic notification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63640" y="47091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A0E1A"/>
                </a:solidFill>
              </a:rPr>
              <a:t>Added avatar + shop name to anchor identity at a glance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5303520"/>
            <a:ext cx="11155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5303520"/>
            <a:ext cx="27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547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94360" y="53492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A0E1A"/>
                </a:solidFill>
              </a:rPr>
              <a:t>Customers couldn't find 'change time' after confirming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63640" y="53492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A0E1A"/>
                </a:solidFill>
              </a:rPr>
              <a:t>Promoted 'Modify Appointment' to its own button row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CutQ  ·  HCI Final  ·  Group 8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9441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292608"/>
          </a:xfrm>
          <a:prstGeom prst="rect">
            <a:avLst/>
          </a:prstGeom>
          <a:solidFill>
            <a:srgbClr val="D4A547"/>
          </a:solidFill>
          <a:ln w="12700">
            <a:solidFill>
              <a:srgbClr val="D4A5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Did we hit the criteria we set?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563EB"/>
                </a:solidFill>
              </a:rPr>
              <a:t>SUCCESS CRITERION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0" y="2331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563EB"/>
                </a:solidFill>
              </a:rPr>
              <a:t>EVIDENCE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23317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2563EB"/>
                </a:solidFill>
              </a:rPr>
              <a:t>MET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633472"/>
            <a:ext cx="11247120" cy="18288"/>
          </a:xfrm>
          <a:prstGeom prst="rect">
            <a:avLst/>
          </a:prstGeom>
          <a:solidFill>
            <a:srgbClr val="E3DDD2"/>
          </a:solidFill>
          <a:ln w="12700">
            <a:solidFill>
              <a:srgbClr val="E3DD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0"/>
            <a:ext cx="11247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7889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E1A"/>
                </a:solidFill>
              </a:rPr>
              <a:t>Fewer late arrivals or missed appointments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37960" y="27889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Live Activity reminded 5/6 testers without opening the app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109960" y="27889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4360" y="335584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E1A"/>
                </a:solidFill>
              </a:rPr>
              <a:t>Barbers experience fewer empty time slots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37960" y="33558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Alternative-barber suggestions surfaced 3+ openings in tests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109960" y="33558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✓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3877056"/>
            <a:ext cx="11247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92277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E1A"/>
                </a:solidFill>
              </a:rPr>
              <a:t>Clients can quickly find available appointments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37960" y="392277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Median time-to-first-booking: 38s in clickable prototype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109960" y="392277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94360" y="448970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E1A"/>
                </a:solidFill>
              </a:rPr>
              <a:t>Users report the system is simple and easy to use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7960" y="448970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SUS = 82.5 ("good–excellent"); 6/6 would use again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109960" y="44897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✓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57200" y="5010912"/>
            <a:ext cx="11247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505663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E1A"/>
                </a:solidFill>
              </a:rPr>
              <a:t>WCAG 2.1 AA compliance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37960" y="50566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Color audit passed; tap-target audit passed; VO labels in progress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109960" y="50566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547"/>
                </a:solidFill>
              </a:rPr>
              <a:t>◐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94360" y="56235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E1A"/>
                </a:solidFill>
              </a:rPr>
              <a:t>No raw payment storage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37960" y="5623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Implemented as Stripe-style tokenized stub in prototype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109960" y="56235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✓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CutQ  ·  HCI Final  ·  Group 8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9441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292608"/>
          </a:xfrm>
          <a:prstGeom prst="rect">
            <a:avLst/>
          </a:prstGeom>
          <a:solidFill>
            <a:srgbClr val="D4A547"/>
          </a:solidFill>
          <a:ln w="12700">
            <a:solidFill>
              <a:srgbClr val="D4A5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DELIVERABLES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in the package.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112471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46888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245059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E1A"/>
                </a:solidFill>
              </a:rPr>
              <a:t>Comprehensive report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0" y="2450592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Full design rationale, research, testing data, accessibility audit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90672"/>
            <a:ext cx="112471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3182112"/>
            <a:ext cx="457200" cy="457200"/>
          </a:xfrm>
          <a:prstGeom prst="ellipse">
            <a:avLst/>
          </a:prstGeom>
          <a:solidFill>
            <a:srgbClr val="D4A547"/>
          </a:solidFill>
          <a:ln w="12700">
            <a:solidFill>
              <a:srgbClr val="D4A5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316382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E1A"/>
                </a:solidFill>
              </a:rPr>
              <a:t>Figma prototype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0" y="3163824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7 high-fidelity screens, component library, clickable flows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803904"/>
            <a:ext cx="112471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895344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387705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E1A"/>
                </a:solidFill>
              </a:rPr>
              <a:t>Usability testing report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0" y="3877056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Methodology, raw findings, SUS results, recommendations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517136"/>
            <a:ext cx="112471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608576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608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80160" y="459028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E1A"/>
                </a:solidFill>
              </a:rPr>
              <a:t>Final presentation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0" y="4590288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This deck — narrative, mockups, and outcomes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5230368"/>
            <a:ext cx="112471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5321808"/>
            <a:ext cx="457200" cy="457200"/>
          </a:xfrm>
          <a:prstGeom prst="ellipse">
            <a:avLst/>
          </a:prstGeom>
          <a:solidFill>
            <a:srgbClr val="D4A547"/>
          </a:solidFill>
          <a:ln w="12700">
            <a:solidFill>
              <a:srgbClr val="D4A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321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80160" y="53035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E1A"/>
                </a:solidFill>
              </a:rPr>
              <a:t>Submission checklist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86400" y="530352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All 9 items from the brief mapped to artefacts in the report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CutQ  ·  HCI Final  ·  Group 8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9441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292608"/>
          </a:xfrm>
          <a:prstGeom prst="rect">
            <a:avLst/>
          </a:prstGeom>
          <a:solidFill>
            <a:srgbClr val="D4A547"/>
          </a:solidFill>
          <a:ln w="12700">
            <a:solidFill>
              <a:srgbClr val="D4A5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D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600" b="1" dirty="0">
                <a:solidFill>
                  <a:srgbClr val="F4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CutQ is a small program</a:t>
            </a:r>
            <a:endParaRPr lang="en-US" sz="5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600" b="1" dirty="0">
                <a:solidFill>
                  <a:srgbClr val="F4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made to feel calm.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457200" y="4206240"/>
            <a:ext cx="3657600" cy="17373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206240"/>
            <a:ext cx="36576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4348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Anxiety↓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5074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4F1EB"/>
                </a:solidFill>
              </a:rPr>
              <a:t>Live state replaces guesswork on both sides of the chair.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61688" y="4206240"/>
            <a:ext cx="3657600" cy="17373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61688" y="4206240"/>
            <a:ext cx="3657600" cy="73152"/>
          </a:xfrm>
          <a:prstGeom prst="rect">
            <a:avLst/>
          </a:prstGeom>
          <a:solidFill>
            <a:srgbClr val="D4A547"/>
          </a:solidFill>
          <a:ln w="12700">
            <a:solidFill>
              <a:srgbClr val="D4A5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44348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Trust↑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36008" y="5074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4F1EB"/>
                </a:solidFill>
              </a:rPr>
              <a:t>Two-step confirmation, status pills, and audit trails make every action visible.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66176" y="4206240"/>
            <a:ext cx="3657600" cy="17373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66176" y="4206240"/>
            <a:ext cx="36576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0496" y="44348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Friction↓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540496" y="5074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4F1EB"/>
                </a:solidFill>
              </a:rPr>
              <a:t>Progressive disclosure: one decision per screen, max 7 visible options.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CutQ  ·  HCI Final  ·  Group 8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9441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4A547"/>
          </a:solidFill>
          <a:ln w="12700">
            <a:solidFill>
              <a:srgbClr val="D4A5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4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AA0AD"/>
                </a:solidFill>
              </a:rPr>
              <a:t>Questions, critiques, and challenges welcome.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931920"/>
            <a:ext cx="10698480" cy="21945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3931920"/>
            <a:ext cx="91440" cy="2194560"/>
          </a:xfrm>
          <a:prstGeom prst="rect">
            <a:avLst/>
          </a:prstGeom>
          <a:solidFill>
            <a:srgbClr val="D4A547"/>
          </a:solidFill>
          <a:ln w="12700">
            <a:solidFill>
              <a:srgbClr val="D4A5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4114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547"/>
                </a:solidFill>
              </a:rPr>
              <a:t>CUTQ  ·  GROUP 8  ·  HCI SPRING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45262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4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Jerry Ttuyan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4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Behrouz Barati Bagherabad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0" y="45262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AA0AD"/>
                </a:solidFill>
              </a:rPr>
              <a:t>Instructor  ·  Armineh Karamian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AA0AD"/>
                </a:solidFill>
              </a:rPr>
              <a:t>CSUN  ·  Human-Computer Interaction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56692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0AD"/>
                </a:solidFill>
              </a:rPr>
              <a:t>Project file: github.com/  ·  Figma: CutQ Barber Management Platform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CSUN - Human-Computer Interaction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CutQ Barber Management Platform - HCI Final Presentation</dc:title>
  <dc:subject>PptxGenJS Presentation</dc:subject>
  <dc:creator>Group 8 - Jerry Ttuyan &amp; Behrouz Barati Bagherabad</dc:creator>
  <cp:lastModifiedBy>Group 8 - Jerry Ttuyan &amp; Behrouz Barati Bagherabad</cp:lastModifiedBy>
  <cp:revision>1</cp:revision>
  <dcterms:created xsi:type="dcterms:W3CDTF">2026-04-24T19:04:58Z</dcterms:created>
  <dcterms:modified xsi:type="dcterms:W3CDTF">2026-04-24T19:04:58Z</dcterms:modified>
</cp:coreProperties>
</file>